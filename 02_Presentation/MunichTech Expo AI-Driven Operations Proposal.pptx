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Bricolage Grotesque Bold" charset="1" panose="020B0605040402000204"/>
      <p:regular r:id="rId18"/>
    </p:embeddedFont>
    <p:embeddedFont>
      <p:font typeface="Bricolage Grotesque" charset="1" panose="020B0605040402000204"/>
      <p:regular r:id="rId19"/>
    </p:embeddedFont>
    <p:embeddedFont>
      <p:font typeface="Bricolage Grotesque Extra-Light" charset="1" panose="020B060504040200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5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7197" y="1028700"/>
            <a:ext cx="7849665" cy="6345506"/>
            <a:chOff x="0" y="0"/>
            <a:chExt cx="2067401" cy="16712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7401" cy="1671244"/>
            </a:xfrm>
            <a:custGeom>
              <a:avLst/>
              <a:gdLst/>
              <a:ahLst/>
              <a:cxnLst/>
              <a:rect r="r" b="b" t="t" l="l"/>
              <a:pathLst>
                <a:path h="1671244" w="2067401">
                  <a:moveTo>
                    <a:pt x="98627" y="0"/>
                  </a:moveTo>
                  <a:lnTo>
                    <a:pt x="1968774" y="0"/>
                  </a:lnTo>
                  <a:cubicBezTo>
                    <a:pt x="2023244" y="0"/>
                    <a:pt x="2067401" y="44157"/>
                    <a:pt x="2067401" y="98627"/>
                  </a:cubicBezTo>
                  <a:lnTo>
                    <a:pt x="2067401" y="1572617"/>
                  </a:lnTo>
                  <a:cubicBezTo>
                    <a:pt x="2067401" y="1598775"/>
                    <a:pt x="2057010" y="1623861"/>
                    <a:pt x="2038514" y="1642357"/>
                  </a:cubicBezTo>
                  <a:cubicBezTo>
                    <a:pt x="2020018" y="1660853"/>
                    <a:pt x="1994932" y="1671244"/>
                    <a:pt x="1968774" y="1671244"/>
                  </a:cubicBezTo>
                  <a:lnTo>
                    <a:pt x="98627" y="1671244"/>
                  </a:lnTo>
                  <a:cubicBezTo>
                    <a:pt x="44157" y="1671244"/>
                    <a:pt x="0" y="1627087"/>
                    <a:pt x="0" y="1572617"/>
                  </a:cubicBezTo>
                  <a:lnTo>
                    <a:pt x="0" y="98627"/>
                  </a:lnTo>
                  <a:cubicBezTo>
                    <a:pt x="0" y="72470"/>
                    <a:pt x="10391" y="47384"/>
                    <a:pt x="28887" y="28887"/>
                  </a:cubicBezTo>
                  <a:cubicBezTo>
                    <a:pt x="47384" y="10391"/>
                    <a:pt x="72470" y="0"/>
                    <a:pt x="98627" y="0"/>
                  </a:cubicBezTo>
                  <a:close/>
                </a:path>
              </a:pathLst>
            </a:custGeom>
            <a:solidFill>
              <a:srgbClr val="62814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7401" cy="17093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144000" y="1028700"/>
            <a:ext cx="12714270" cy="8229600"/>
          </a:xfrm>
          <a:custGeom>
            <a:avLst/>
            <a:gdLst/>
            <a:ahLst/>
            <a:cxnLst/>
            <a:rect r="r" b="b" t="t" l="l"/>
            <a:pathLst>
              <a:path h="8229600" w="12714270">
                <a:moveTo>
                  <a:pt x="0" y="0"/>
                </a:moveTo>
                <a:lnTo>
                  <a:pt x="12714270" y="0"/>
                </a:lnTo>
                <a:lnTo>
                  <a:pt x="127142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178899"/>
            <a:ext cx="16230600" cy="367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10"/>
              </a:lnSpc>
            </a:pPr>
            <a:r>
              <a:rPr lang="en-US" b="true" sz="9510" spc="-294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MunichTech EXPO 2026 Operations &amp; AI Workflow Coordination Proposal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6829471"/>
            <a:ext cx="10438246" cy="1089470"/>
            <a:chOff x="0" y="0"/>
            <a:chExt cx="3893730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93729" cy="406400"/>
            </a:xfrm>
            <a:custGeom>
              <a:avLst/>
              <a:gdLst/>
              <a:ahLst/>
              <a:cxnLst/>
              <a:rect r="r" b="b" t="t" l="l"/>
              <a:pathLst>
                <a:path h="406400" w="3893729">
                  <a:moveTo>
                    <a:pt x="3690529" y="0"/>
                  </a:moveTo>
                  <a:cubicBezTo>
                    <a:pt x="3802754" y="0"/>
                    <a:pt x="3893729" y="90976"/>
                    <a:pt x="3893729" y="203200"/>
                  </a:cubicBezTo>
                  <a:cubicBezTo>
                    <a:pt x="3893729" y="315424"/>
                    <a:pt x="3802754" y="406400"/>
                    <a:pt x="369052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389373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1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837943" y="1535298"/>
            <a:ext cx="1575546" cy="1237603"/>
          </a:xfrm>
          <a:custGeom>
            <a:avLst/>
            <a:gdLst/>
            <a:ahLst/>
            <a:cxnLst/>
            <a:rect r="r" b="b" t="t" l="l"/>
            <a:pathLst>
              <a:path h="1237603" w="1575546">
                <a:moveTo>
                  <a:pt x="0" y="0"/>
                </a:moveTo>
                <a:lnTo>
                  <a:pt x="1575546" y="0"/>
                </a:lnTo>
                <a:lnTo>
                  <a:pt x="1575546" y="1237603"/>
                </a:lnTo>
                <a:lnTo>
                  <a:pt x="0" y="12376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81195" y="7169738"/>
            <a:ext cx="9733255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95"/>
              </a:lnSpc>
            </a:pPr>
            <a:r>
              <a:rPr lang="en-US" sz="3225">
                <a:solidFill>
                  <a:srgbClr val="40513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Scalable Execution Meets Intelligent Automation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80637" y="8777303"/>
            <a:ext cx="5178663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95"/>
              </a:lnSpc>
            </a:pPr>
            <a:r>
              <a:rPr lang="en-US" sz="3225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www.munichtechexpo.com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8786828"/>
            <a:ext cx="3245418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</a:pPr>
            <a:r>
              <a:rPr lang="en-US" b="true" sz="3375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Prepared By: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274118" y="8777303"/>
            <a:ext cx="4869882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5"/>
              </a:lnSpc>
            </a:pPr>
            <a:r>
              <a:rPr lang="en-US" sz="3225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Eronmosele </a:t>
            </a:r>
            <a:r>
              <a:rPr lang="en-US" sz="3225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Austin Oboh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84310" y="1786347"/>
            <a:ext cx="3084683" cy="77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63"/>
              </a:lnSpc>
            </a:pPr>
            <a:r>
              <a:rPr lang="en-US" sz="3767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MUNICHTECH EXPO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5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191343">
            <a:off x="8811141" y="-3039035"/>
            <a:ext cx="7521032" cy="9232935"/>
          </a:xfrm>
          <a:custGeom>
            <a:avLst/>
            <a:gdLst/>
            <a:ahLst/>
            <a:cxnLst/>
            <a:rect r="r" b="b" t="t" l="l"/>
            <a:pathLst>
              <a:path h="9232935" w="7521032">
                <a:moveTo>
                  <a:pt x="0" y="0"/>
                </a:moveTo>
                <a:lnTo>
                  <a:pt x="7521031" y="0"/>
                </a:lnTo>
                <a:lnTo>
                  <a:pt x="7521031" y="9232935"/>
                </a:lnTo>
                <a:lnTo>
                  <a:pt x="0" y="9232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03612" y="3650048"/>
            <a:ext cx="17280776" cy="4625246"/>
            <a:chOff x="0" y="0"/>
            <a:chExt cx="4551316" cy="12181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51316" cy="1218172"/>
            </a:xfrm>
            <a:custGeom>
              <a:avLst/>
              <a:gdLst/>
              <a:ahLst/>
              <a:cxnLst/>
              <a:rect r="r" b="b" t="t" l="l"/>
              <a:pathLst>
                <a:path h="1218172" w="4551316">
                  <a:moveTo>
                    <a:pt x="44801" y="0"/>
                  </a:moveTo>
                  <a:lnTo>
                    <a:pt x="4506515" y="0"/>
                  </a:lnTo>
                  <a:cubicBezTo>
                    <a:pt x="4531258" y="0"/>
                    <a:pt x="4551316" y="20058"/>
                    <a:pt x="4551316" y="44801"/>
                  </a:cubicBezTo>
                  <a:lnTo>
                    <a:pt x="4551316" y="1173371"/>
                  </a:lnTo>
                  <a:cubicBezTo>
                    <a:pt x="4551316" y="1198114"/>
                    <a:pt x="4531258" y="1218172"/>
                    <a:pt x="4506515" y="1218172"/>
                  </a:cubicBezTo>
                  <a:lnTo>
                    <a:pt x="44801" y="1218172"/>
                  </a:lnTo>
                  <a:cubicBezTo>
                    <a:pt x="20058" y="1218172"/>
                    <a:pt x="0" y="1198114"/>
                    <a:pt x="0" y="1173371"/>
                  </a:cubicBezTo>
                  <a:lnTo>
                    <a:pt x="0" y="44801"/>
                  </a:lnTo>
                  <a:cubicBezTo>
                    <a:pt x="0" y="20058"/>
                    <a:pt x="20058" y="0"/>
                    <a:pt x="44801" y="0"/>
                  </a:cubicBezTo>
                  <a:close/>
                </a:path>
              </a:pathLst>
            </a:custGeom>
            <a:solidFill>
              <a:srgbClr val="62814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551316" cy="125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7881" y="4687665"/>
            <a:ext cx="721554" cy="72155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7881" y="6786849"/>
            <a:ext cx="721554" cy="72155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49357" y="4687665"/>
            <a:ext cx="721554" cy="72155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49357" y="6786849"/>
            <a:ext cx="721554" cy="72155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1478284"/>
            <a:ext cx="16110412" cy="121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80"/>
              </a:lnSpc>
            </a:pPr>
            <a:r>
              <a:rPr lang="en-US" b="true" sz="9865" spc="-305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Executive Summary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34760" y="4272984"/>
            <a:ext cx="4500096" cy="289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9"/>
              </a:lnSpc>
            </a:pPr>
            <a:r>
              <a:rPr lang="en-US" b="true" sz="2197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Strategic Focus: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34760" y="4765350"/>
            <a:ext cx="6764381" cy="641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5"/>
              </a:lnSpc>
            </a:pPr>
            <a:r>
              <a:rPr lang="en-US" sz="2245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Operational strategy centered on scalable execution and AI-supported workflows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34760" y="6372168"/>
            <a:ext cx="4500096" cy="289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9"/>
              </a:lnSpc>
            </a:pPr>
            <a:r>
              <a:rPr lang="en-US" b="true" sz="2197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Core Goals: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134760" y="6864534"/>
            <a:ext cx="6502246" cy="641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5"/>
              </a:lnSpc>
            </a:pPr>
            <a:r>
              <a:rPr lang="en-US" sz="2245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Improve attendee experience, enhance operational visibility, maximize workflow efficiency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756235" y="4272984"/>
            <a:ext cx="4500096" cy="289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9"/>
              </a:lnSpc>
            </a:pPr>
            <a:r>
              <a:rPr lang="en-US" b="true" sz="2197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Integrated Approach: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756235" y="4765350"/>
            <a:ext cx="6502246" cy="641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5"/>
              </a:lnSpc>
            </a:pPr>
            <a:r>
              <a:rPr lang="en-US" sz="2245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Combines operations, automation, communication, and ecosystem management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756235" y="6372168"/>
            <a:ext cx="2796219" cy="289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9"/>
              </a:lnSpc>
            </a:pPr>
            <a:r>
              <a:rPr lang="en-US" b="true" sz="2197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AI Integration: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756235" y="6864534"/>
            <a:ext cx="6502246" cy="641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5"/>
              </a:lnSpc>
            </a:pPr>
            <a:r>
              <a:rPr lang="en-US" sz="2245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Leveraging intelligent automation for real-time coordination and decision support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81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188358">
            <a:off x="-1121200" y="975984"/>
            <a:ext cx="14303553" cy="9258300"/>
          </a:xfrm>
          <a:custGeom>
            <a:avLst/>
            <a:gdLst/>
            <a:ahLst/>
            <a:cxnLst/>
            <a:rect r="r" b="b" t="t" l="l"/>
            <a:pathLst>
              <a:path h="9258300" w="14303553">
                <a:moveTo>
                  <a:pt x="0" y="0"/>
                </a:moveTo>
                <a:lnTo>
                  <a:pt x="14303553" y="0"/>
                </a:lnTo>
                <a:lnTo>
                  <a:pt x="14303553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52525"/>
            <a:ext cx="11224320" cy="2277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43"/>
              </a:lnSpc>
            </a:pPr>
            <a:r>
              <a:rPr lang="en-US" b="true" sz="8502" spc="-263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Event Operations Structure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4459554"/>
            <a:ext cx="8020349" cy="2291158"/>
            <a:chOff x="0" y="0"/>
            <a:chExt cx="2028771" cy="5795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28771" cy="579555"/>
            </a:xfrm>
            <a:custGeom>
              <a:avLst/>
              <a:gdLst/>
              <a:ahLst/>
              <a:cxnLst/>
              <a:rect r="r" b="b" t="t" l="l"/>
              <a:pathLst>
                <a:path h="579555" w="2028771">
                  <a:moveTo>
                    <a:pt x="70466" y="0"/>
                  </a:moveTo>
                  <a:lnTo>
                    <a:pt x="1958305" y="0"/>
                  </a:lnTo>
                  <a:cubicBezTo>
                    <a:pt x="1976994" y="0"/>
                    <a:pt x="1994917" y="7424"/>
                    <a:pt x="2008132" y="20639"/>
                  </a:cubicBezTo>
                  <a:cubicBezTo>
                    <a:pt x="2021347" y="33854"/>
                    <a:pt x="2028771" y="51777"/>
                    <a:pt x="2028771" y="70466"/>
                  </a:cubicBezTo>
                  <a:lnTo>
                    <a:pt x="2028771" y="509090"/>
                  </a:lnTo>
                  <a:cubicBezTo>
                    <a:pt x="2028771" y="548007"/>
                    <a:pt x="1997222" y="579555"/>
                    <a:pt x="1958305" y="579555"/>
                  </a:cubicBezTo>
                  <a:lnTo>
                    <a:pt x="70466" y="579555"/>
                  </a:lnTo>
                  <a:cubicBezTo>
                    <a:pt x="51777" y="579555"/>
                    <a:pt x="33854" y="572131"/>
                    <a:pt x="20639" y="558916"/>
                  </a:cubicBezTo>
                  <a:cubicBezTo>
                    <a:pt x="7424" y="545701"/>
                    <a:pt x="0" y="527778"/>
                    <a:pt x="0" y="509090"/>
                  </a:cubicBezTo>
                  <a:lnTo>
                    <a:pt x="0" y="70466"/>
                  </a:lnTo>
                  <a:cubicBezTo>
                    <a:pt x="0" y="51777"/>
                    <a:pt x="7424" y="33854"/>
                    <a:pt x="20639" y="20639"/>
                  </a:cubicBezTo>
                  <a:cubicBezTo>
                    <a:pt x="33854" y="7424"/>
                    <a:pt x="51777" y="0"/>
                    <a:pt x="70466" y="0"/>
                  </a:cubicBezTo>
                  <a:close/>
                </a:path>
              </a:pathLst>
            </a:custGeom>
            <a:solidFill>
              <a:srgbClr val="40513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028771" cy="617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73003" y="5355912"/>
            <a:ext cx="668982" cy="66898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733727" y="4911026"/>
            <a:ext cx="5859718" cy="298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24"/>
              </a:lnSpc>
            </a:pPr>
            <a:r>
              <a:rPr lang="en-US" b="true" sz="2213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Registration &amp; Ticketing: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57427" y="5355912"/>
            <a:ext cx="6315322" cy="68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59"/>
              </a:lnSpc>
            </a:pPr>
            <a:r>
              <a:rPr lang="en-US" sz="2262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End-to-end ticket management, QR code generation, check-in systems, and badge printing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525299" y="4459554"/>
            <a:ext cx="8020349" cy="2291158"/>
            <a:chOff x="0" y="0"/>
            <a:chExt cx="2028771" cy="5795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28771" cy="579555"/>
            </a:xfrm>
            <a:custGeom>
              <a:avLst/>
              <a:gdLst/>
              <a:ahLst/>
              <a:cxnLst/>
              <a:rect r="r" b="b" t="t" l="l"/>
              <a:pathLst>
                <a:path h="579555" w="2028771">
                  <a:moveTo>
                    <a:pt x="70466" y="0"/>
                  </a:moveTo>
                  <a:lnTo>
                    <a:pt x="1958305" y="0"/>
                  </a:lnTo>
                  <a:cubicBezTo>
                    <a:pt x="1976994" y="0"/>
                    <a:pt x="1994917" y="7424"/>
                    <a:pt x="2008132" y="20639"/>
                  </a:cubicBezTo>
                  <a:cubicBezTo>
                    <a:pt x="2021347" y="33854"/>
                    <a:pt x="2028771" y="51777"/>
                    <a:pt x="2028771" y="70466"/>
                  </a:cubicBezTo>
                  <a:lnTo>
                    <a:pt x="2028771" y="509090"/>
                  </a:lnTo>
                  <a:cubicBezTo>
                    <a:pt x="2028771" y="548007"/>
                    <a:pt x="1997222" y="579555"/>
                    <a:pt x="1958305" y="579555"/>
                  </a:cubicBezTo>
                  <a:lnTo>
                    <a:pt x="70466" y="579555"/>
                  </a:lnTo>
                  <a:cubicBezTo>
                    <a:pt x="51777" y="579555"/>
                    <a:pt x="33854" y="572131"/>
                    <a:pt x="20639" y="558916"/>
                  </a:cubicBezTo>
                  <a:cubicBezTo>
                    <a:pt x="7424" y="545701"/>
                    <a:pt x="0" y="527778"/>
                    <a:pt x="0" y="509090"/>
                  </a:cubicBezTo>
                  <a:lnTo>
                    <a:pt x="0" y="70466"/>
                  </a:lnTo>
                  <a:cubicBezTo>
                    <a:pt x="0" y="51777"/>
                    <a:pt x="7424" y="33854"/>
                    <a:pt x="20639" y="20639"/>
                  </a:cubicBezTo>
                  <a:cubicBezTo>
                    <a:pt x="33854" y="7424"/>
                    <a:pt x="51777" y="0"/>
                    <a:pt x="70466" y="0"/>
                  </a:cubicBezTo>
                  <a:close/>
                </a:path>
              </a:pathLst>
            </a:custGeom>
            <a:solidFill>
              <a:srgbClr val="40513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28771" cy="617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108245" y="5292718"/>
            <a:ext cx="668982" cy="66898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1144601" y="4911026"/>
            <a:ext cx="4172225" cy="298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24"/>
              </a:lnSpc>
            </a:pPr>
            <a:r>
              <a:rPr lang="en-US" b="true" sz="2213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Speaker Coordination: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144601" y="5355912"/>
            <a:ext cx="6315322" cy="68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59"/>
              </a:lnSpc>
            </a:pPr>
            <a:r>
              <a:rPr lang="en-US" sz="2262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Invitation workflows, session scheduling, AV requirements, and live presentation support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8700" y="6967142"/>
            <a:ext cx="8020349" cy="2291158"/>
            <a:chOff x="0" y="0"/>
            <a:chExt cx="2028771" cy="57955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28771" cy="579555"/>
            </a:xfrm>
            <a:custGeom>
              <a:avLst/>
              <a:gdLst/>
              <a:ahLst/>
              <a:cxnLst/>
              <a:rect r="r" b="b" t="t" l="l"/>
              <a:pathLst>
                <a:path h="579555" w="2028771">
                  <a:moveTo>
                    <a:pt x="70466" y="0"/>
                  </a:moveTo>
                  <a:lnTo>
                    <a:pt x="1958305" y="0"/>
                  </a:lnTo>
                  <a:cubicBezTo>
                    <a:pt x="1976994" y="0"/>
                    <a:pt x="1994917" y="7424"/>
                    <a:pt x="2008132" y="20639"/>
                  </a:cubicBezTo>
                  <a:cubicBezTo>
                    <a:pt x="2021347" y="33854"/>
                    <a:pt x="2028771" y="51777"/>
                    <a:pt x="2028771" y="70466"/>
                  </a:cubicBezTo>
                  <a:lnTo>
                    <a:pt x="2028771" y="509090"/>
                  </a:lnTo>
                  <a:cubicBezTo>
                    <a:pt x="2028771" y="548007"/>
                    <a:pt x="1997222" y="579555"/>
                    <a:pt x="1958305" y="579555"/>
                  </a:cubicBezTo>
                  <a:lnTo>
                    <a:pt x="70466" y="579555"/>
                  </a:lnTo>
                  <a:cubicBezTo>
                    <a:pt x="51777" y="579555"/>
                    <a:pt x="33854" y="572131"/>
                    <a:pt x="20639" y="558916"/>
                  </a:cubicBezTo>
                  <a:cubicBezTo>
                    <a:pt x="7424" y="545701"/>
                    <a:pt x="0" y="527778"/>
                    <a:pt x="0" y="509090"/>
                  </a:cubicBezTo>
                  <a:lnTo>
                    <a:pt x="0" y="70466"/>
                  </a:lnTo>
                  <a:cubicBezTo>
                    <a:pt x="0" y="51777"/>
                    <a:pt x="7424" y="33854"/>
                    <a:pt x="20639" y="20639"/>
                  </a:cubicBezTo>
                  <a:cubicBezTo>
                    <a:pt x="33854" y="7424"/>
                    <a:pt x="51777" y="0"/>
                    <a:pt x="70466" y="0"/>
                  </a:cubicBezTo>
                  <a:close/>
                </a:path>
              </a:pathLst>
            </a:custGeom>
            <a:solidFill>
              <a:srgbClr val="40513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028771" cy="617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707494" y="7800306"/>
            <a:ext cx="668982" cy="668982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733727" y="7418613"/>
            <a:ext cx="4172225" cy="298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24"/>
              </a:lnSpc>
            </a:pPr>
            <a:r>
              <a:rPr lang="en-US" b="true" sz="2213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Sponsor &amp; Exhibitor Ops: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640528" y="7863499"/>
            <a:ext cx="6315322" cy="68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59"/>
              </a:lnSpc>
            </a:pPr>
            <a:r>
              <a:rPr lang="en-US" sz="2262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Agreement processing, branding delivery, booth setup coordination, and activation support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639599" y="6967142"/>
            <a:ext cx="8020349" cy="2291158"/>
            <a:chOff x="0" y="0"/>
            <a:chExt cx="2028771" cy="57955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28771" cy="579555"/>
            </a:xfrm>
            <a:custGeom>
              <a:avLst/>
              <a:gdLst/>
              <a:ahLst/>
              <a:cxnLst/>
              <a:rect r="r" b="b" t="t" l="l"/>
              <a:pathLst>
                <a:path h="579555" w="2028771">
                  <a:moveTo>
                    <a:pt x="70466" y="0"/>
                  </a:moveTo>
                  <a:lnTo>
                    <a:pt x="1958305" y="0"/>
                  </a:lnTo>
                  <a:cubicBezTo>
                    <a:pt x="1976994" y="0"/>
                    <a:pt x="1994917" y="7424"/>
                    <a:pt x="2008132" y="20639"/>
                  </a:cubicBezTo>
                  <a:cubicBezTo>
                    <a:pt x="2021347" y="33854"/>
                    <a:pt x="2028771" y="51777"/>
                    <a:pt x="2028771" y="70466"/>
                  </a:cubicBezTo>
                  <a:lnTo>
                    <a:pt x="2028771" y="509090"/>
                  </a:lnTo>
                  <a:cubicBezTo>
                    <a:pt x="2028771" y="548007"/>
                    <a:pt x="1997222" y="579555"/>
                    <a:pt x="1958305" y="579555"/>
                  </a:cubicBezTo>
                  <a:lnTo>
                    <a:pt x="70466" y="579555"/>
                  </a:lnTo>
                  <a:cubicBezTo>
                    <a:pt x="51777" y="579555"/>
                    <a:pt x="33854" y="572131"/>
                    <a:pt x="20639" y="558916"/>
                  </a:cubicBezTo>
                  <a:cubicBezTo>
                    <a:pt x="7424" y="545701"/>
                    <a:pt x="0" y="527778"/>
                    <a:pt x="0" y="509090"/>
                  </a:cubicBezTo>
                  <a:lnTo>
                    <a:pt x="0" y="70466"/>
                  </a:lnTo>
                  <a:cubicBezTo>
                    <a:pt x="0" y="51777"/>
                    <a:pt x="7424" y="33854"/>
                    <a:pt x="20639" y="20639"/>
                  </a:cubicBezTo>
                  <a:cubicBezTo>
                    <a:pt x="33854" y="7424"/>
                    <a:pt x="51777" y="0"/>
                    <a:pt x="70466" y="0"/>
                  </a:cubicBezTo>
                  <a:close/>
                </a:path>
              </a:pathLst>
            </a:custGeom>
            <a:solidFill>
              <a:srgbClr val="40513B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028771" cy="617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318394" y="7800306"/>
            <a:ext cx="668982" cy="668982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1344626" y="7418613"/>
            <a:ext cx="4172225" cy="298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24"/>
              </a:lnSpc>
            </a:pPr>
            <a:r>
              <a:rPr lang="en-US" b="true" sz="2213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Venue &amp; Logistics: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254076" y="7863499"/>
            <a:ext cx="6315322" cy="68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59"/>
              </a:lnSpc>
            </a:pPr>
            <a:r>
              <a:rPr lang="en-US" sz="2262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Facility management, equipment setup, signage, catering, and volunteer deployment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5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40909" y="-1271208"/>
            <a:ext cx="9790865" cy="8812622"/>
          </a:xfrm>
          <a:custGeom>
            <a:avLst/>
            <a:gdLst/>
            <a:ahLst/>
            <a:cxnLst/>
            <a:rect r="r" b="b" t="t" l="l"/>
            <a:pathLst>
              <a:path h="8812622" w="9790865">
                <a:moveTo>
                  <a:pt x="0" y="0"/>
                </a:moveTo>
                <a:lnTo>
                  <a:pt x="9790864" y="0"/>
                </a:lnTo>
                <a:lnTo>
                  <a:pt x="9790864" y="8812622"/>
                </a:lnTo>
                <a:lnTo>
                  <a:pt x="0" y="8812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3092645"/>
            <a:ext cx="5079045" cy="1001750"/>
            <a:chOff x="0" y="0"/>
            <a:chExt cx="2060518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60518" cy="406400"/>
            </a:xfrm>
            <a:custGeom>
              <a:avLst/>
              <a:gdLst/>
              <a:ahLst/>
              <a:cxnLst/>
              <a:rect r="r" b="b" t="t" l="l"/>
              <a:pathLst>
                <a:path h="406400" w="2060518">
                  <a:moveTo>
                    <a:pt x="1857318" y="0"/>
                  </a:moveTo>
                  <a:cubicBezTo>
                    <a:pt x="1969542" y="0"/>
                    <a:pt x="2060518" y="90976"/>
                    <a:pt x="2060518" y="203200"/>
                  </a:cubicBezTo>
                  <a:cubicBezTo>
                    <a:pt x="2060518" y="315424"/>
                    <a:pt x="1969542" y="406400"/>
                    <a:pt x="185731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060518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858256" y="1477303"/>
            <a:ext cx="8843312" cy="8229600"/>
            <a:chOff x="0" y="0"/>
            <a:chExt cx="2329103" cy="21674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29103" cy="2167467"/>
            </a:xfrm>
            <a:custGeom>
              <a:avLst/>
              <a:gdLst/>
              <a:ahLst/>
              <a:cxnLst/>
              <a:rect r="r" b="b" t="t" l="l"/>
              <a:pathLst>
                <a:path h="2167467" w="2329103">
                  <a:moveTo>
                    <a:pt x="87545" y="0"/>
                  </a:moveTo>
                  <a:lnTo>
                    <a:pt x="2241557" y="0"/>
                  </a:lnTo>
                  <a:cubicBezTo>
                    <a:pt x="2289907" y="0"/>
                    <a:pt x="2329103" y="39195"/>
                    <a:pt x="2329103" y="87545"/>
                  </a:cubicBezTo>
                  <a:lnTo>
                    <a:pt x="2329103" y="2079921"/>
                  </a:lnTo>
                  <a:cubicBezTo>
                    <a:pt x="2329103" y="2128271"/>
                    <a:pt x="2289907" y="2167467"/>
                    <a:pt x="2241557" y="2167467"/>
                  </a:cubicBezTo>
                  <a:lnTo>
                    <a:pt x="87545" y="2167467"/>
                  </a:lnTo>
                  <a:cubicBezTo>
                    <a:pt x="64327" y="2167467"/>
                    <a:pt x="42059" y="2158243"/>
                    <a:pt x="25641" y="2141825"/>
                  </a:cubicBezTo>
                  <a:cubicBezTo>
                    <a:pt x="9224" y="2125407"/>
                    <a:pt x="0" y="2103140"/>
                    <a:pt x="0" y="2079921"/>
                  </a:cubicBezTo>
                  <a:lnTo>
                    <a:pt x="0" y="87545"/>
                  </a:lnTo>
                  <a:cubicBezTo>
                    <a:pt x="0" y="39195"/>
                    <a:pt x="39195" y="0"/>
                    <a:pt x="87545" y="0"/>
                  </a:cubicBezTo>
                  <a:close/>
                </a:path>
              </a:pathLst>
            </a:custGeom>
            <a:solidFill>
              <a:srgbClr val="62814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329103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581961" y="1934746"/>
            <a:ext cx="685928" cy="68592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581961" y="3564352"/>
            <a:ext cx="685928" cy="68592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581961" y="5315814"/>
            <a:ext cx="685928" cy="685928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581961" y="7059017"/>
            <a:ext cx="685928" cy="685928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581961" y="8716495"/>
            <a:ext cx="685928" cy="685928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8700" y="4553472"/>
            <a:ext cx="7019861" cy="3917361"/>
            <a:chOff x="0" y="0"/>
            <a:chExt cx="1087560" cy="60690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87560" cy="606902"/>
            </a:xfrm>
            <a:custGeom>
              <a:avLst/>
              <a:gdLst/>
              <a:ahLst/>
              <a:cxnLst/>
              <a:rect r="r" b="b" t="t" l="l"/>
              <a:pathLst>
                <a:path h="606902" w="1087560">
                  <a:moveTo>
                    <a:pt x="110286" y="0"/>
                  </a:moveTo>
                  <a:lnTo>
                    <a:pt x="977274" y="0"/>
                  </a:lnTo>
                  <a:cubicBezTo>
                    <a:pt x="1038183" y="0"/>
                    <a:pt x="1087560" y="49377"/>
                    <a:pt x="1087560" y="110286"/>
                  </a:cubicBezTo>
                  <a:lnTo>
                    <a:pt x="1087560" y="496616"/>
                  </a:lnTo>
                  <a:cubicBezTo>
                    <a:pt x="1087560" y="557525"/>
                    <a:pt x="1038183" y="606902"/>
                    <a:pt x="977274" y="606902"/>
                  </a:cubicBezTo>
                  <a:lnTo>
                    <a:pt x="110286" y="606902"/>
                  </a:lnTo>
                  <a:cubicBezTo>
                    <a:pt x="49377" y="606902"/>
                    <a:pt x="0" y="557525"/>
                    <a:pt x="0" y="496616"/>
                  </a:cubicBezTo>
                  <a:lnTo>
                    <a:pt x="0" y="110286"/>
                  </a:lnTo>
                  <a:cubicBezTo>
                    <a:pt x="0" y="49377"/>
                    <a:pt x="49377" y="0"/>
                    <a:pt x="110286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071" r="0" b="-1071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374270" y="3389052"/>
            <a:ext cx="4387905" cy="39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2"/>
              </a:lnSpc>
            </a:pPr>
            <a:r>
              <a:rPr lang="en-US" sz="3065">
                <a:solidFill>
                  <a:srgbClr val="40513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Critical Event Processes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1209675"/>
            <a:ext cx="6449694" cy="1539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9"/>
              </a:lnSpc>
            </a:pPr>
            <a:r>
              <a:rPr lang="en-US" b="true" sz="6527" spc="-202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Core Operational Workflows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804938" y="2012709"/>
            <a:ext cx="4277910" cy="322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1"/>
              </a:lnSpc>
            </a:pPr>
            <a:r>
              <a:rPr lang="en-US" b="true" sz="2449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Attendee Journey: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804938" y="2450780"/>
            <a:ext cx="7339678" cy="901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0"/>
              </a:lnSpc>
            </a:pPr>
            <a:r>
              <a:rPr lang="en-US" sz="2934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Ticket → QR Code → Check-In → Badge → Sessions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804938" y="3690732"/>
            <a:ext cx="4277910" cy="322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1"/>
              </a:lnSpc>
            </a:pPr>
            <a:r>
              <a:rPr lang="en-US" b="true" sz="2449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Speaker Workflow: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804938" y="4128803"/>
            <a:ext cx="7454362" cy="901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0"/>
              </a:lnSpc>
            </a:pPr>
            <a:r>
              <a:rPr lang="en-US" sz="2934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Invitation → Confirmation → Session → Live Support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804938" y="5464282"/>
            <a:ext cx="4277910" cy="322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1"/>
              </a:lnSpc>
            </a:pPr>
            <a:r>
              <a:rPr lang="en-US" b="true" sz="2449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Sponsor Workflow: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804938" y="5902352"/>
            <a:ext cx="7339678" cy="901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0"/>
              </a:lnSpc>
            </a:pPr>
            <a:r>
              <a:rPr lang="en-US" sz="2934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Agreement → Branding → Booth Setup → Activation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804938" y="7165450"/>
            <a:ext cx="4277910" cy="322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1"/>
              </a:lnSpc>
            </a:pPr>
            <a:r>
              <a:rPr lang="en-US" b="true" sz="2449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Incident Escalation: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804938" y="7603521"/>
            <a:ext cx="7339678" cy="901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0"/>
              </a:lnSpc>
            </a:pPr>
            <a:r>
              <a:rPr lang="en-US" sz="2934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Issue Detection → Operations Lead → Resolution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81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368433">
            <a:off x="-1539910" y="323438"/>
            <a:ext cx="14303553" cy="9258300"/>
          </a:xfrm>
          <a:custGeom>
            <a:avLst/>
            <a:gdLst/>
            <a:ahLst/>
            <a:cxnLst/>
            <a:rect r="r" b="b" t="t" l="l"/>
            <a:pathLst>
              <a:path h="9258300" w="14303553">
                <a:moveTo>
                  <a:pt x="0" y="0"/>
                </a:moveTo>
                <a:lnTo>
                  <a:pt x="14303554" y="0"/>
                </a:lnTo>
                <a:lnTo>
                  <a:pt x="1430355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4952588"/>
            <a:ext cx="5319787" cy="4305712"/>
            <a:chOff x="0" y="0"/>
            <a:chExt cx="1509257" cy="1221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09257" cy="1221558"/>
            </a:xfrm>
            <a:custGeom>
              <a:avLst/>
              <a:gdLst/>
              <a:ahLst/>
              <a:cxnLst/>
              <a:rect r="r" b="b" t="t" l="l"/>
              <a:pathLst>
                <a:path h="1221558" w="1509257">
                  <a:moveTo>
                    <a:pt x="145531" y="0"/>
                  </a:moveTo>
                  <a:lnTo>
                    <a:pt x="1363726" y="0"/>
                  </a:lnTo>
                  <a:cubicBezTo>
                    <a:pt x="1402324" y="0"/>
                    <a:pt x="1439340" y="15333"/>
                    <a:pt x="1466632" y="42625"/>
                  </a:cubicBezTo>
                  <a:cubicBezTo>
                    <a:pt x="1493924" y="69917"/>
                    <a:pt x="1509257" y="106934"/>
                    <a:pt x="1509257" y="145531"/>
                  </a:cubicBezTo>
                  <a:lnTo>
                    <a:pt x="1509257" y="1076027"/>
                  </a:lnTo>
                  <a:cubicBezTo>
                    <a:pt x="1509257" y="1114624"/>
                    <a:pt x="1493924" y="1151640"/>
                    <a:pt x="1466632" y="1178933"/>
                  </a:cubicBezTo>
                  <a:cubicBezTo>
                    <a:pt x="1439340" y="1206225"/>
                    <a:pt x="1402324" y="1221558"/>
                    <a:pt x="1363726" y="1221558"/>
                  </a:cubicBezTo>
                  <a:lnTo>
                    <a:pt x="145531" y="1221558"/>
                  </a:lnTo>
                  <a:cubicBezTo>
                    <a:pt x="106934" y="1221558"/>
                    <a:pt x="69917" y="1206225"/>
                    <a:pt x="42625" y="1178933"/>
                  </a:cubicBezTo>
                  <a:cubicBezTo>
                    <a:pt x="15333" y="1151640"/>
                    <a:pt x="0" y="1114624"/>
                    <a:pt x="0" y="1076027"/>
                  </a:cubicBezTo>
                  <a:lnTo>
                    <a:pt x="0" y="145531"/>
                  </a:lnTo>
                  <a:cubicBezTo>
                    <a:pt x="0" y="106934"/>
                    <a:pt x="15333" y="69917"/>
                    <a:pt x="42625" y="42625"/>
                  </a:cubicBezTo>
                  <a:cubicBezTo>
                    <a:pt x="69917" y="15333"/>
                    <a:pt x="106934" y="0"/>
                    <a:pt x="145531" y="0"/>
                  </a:cubicBezTo>
                  <a:close/>
                </a:path>
              </a:pathLst>
            </a:custGeom>
            <a:solidFill>
              <a:srgbClr val="40513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509257" cy="1259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84106" y="4952588"/>
            <a:ext cx="5319787" cy="4305712"/>
            <a:chOff x="0" y="0"/>
            <a:chExt cx="1509257" cy="12215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09257" cy="1221558"/>
            </a:xfrm>
            <a:custGeom>
              <a:avLst/>
              <a:gdLst/>
              <a:ahLst/>
              <a:cxnLst/>
              <a:rect r="r" b="b" t="t" l="l"/>
              <a:pathLst>
                <a:path h="1221558" w="1509257">
                  <a:moveTo>
                    <a:pt x="145531" y="0"/>
                  </a:moveTo>
                  <a:lnTo>
                    <a:pt x="1363726" y="0"/>
                  </a:lnTo>
                  <a:cubicBezTo>
                    <a:pt x="1402324" y="0"/>
                    <a:pt x="1439340" y="15333"/>
                    <a:pt x="1466632" y="42625"/>
                  </a:cubicBezTo>
                  <a:cubicBezTo>
                    <a:pt x="1493924" y="69917"/>
                    <a:pt x="1509257" y="106934"/>
                    <a:pt x="1509257" y="145531"/>
                  </a:cubicBezTo>
                  <a:lnTo>
                    <a:pt x="1509257" y="1076027"/>
                  </a:lnTo>
                  <a:cubicBezTo>
                    <a:pt x="1509257" y="1114624"/>
                    <a:pt x="1493924" y="1151640"/>
                    <a:pt x="1466632" y="1178933"/>
                  </a:cubicBezTo>
                  <a:cubicBezTo>
                    <a:pt x="1439340" y="1206225"/>
                    <a:pt x="1402324" y="1221558"/>
                    <a:pt x="1363726" y="1221558"/>
                  </a:cubicBezTo>
                  <a:lnTo>
                    <a:pt x="145531" y="1221558"/>
                  </a:lnTo>
                  <a:cubicBezTo>
                    <a:pt x="106934" y="1221558"/>
                    <a:pt x="69917" y="1206225"/>
                    <a:pt x="42625" y="1178933"/>
                  </a:cubicBezTo>
                  <a:cubicBezTo>
                    <a:pt x="15333" y="1151640"/>
                    <a:pt x="0" y="1114624"/>
                    <a:pt x="0" y="1076027"/>
                  </a:cubicBezTo>
                  <a:lnTo>
                    <a:pt x="0" y="145531"/>
                  </a:lnTo>
                  <a:cubicBezTo>
                    <a:pt x="0" y="106934"/>
                    <a:pt x="15333" y="69917"/>
                    <a:pt x="42625" y="42625"/>
                  </a:cubicBezTo>
                  <a:cubicBezTo>
                    <a:pt x="69917" y="15333"/>
                    <a:pt x="106934" y="0"/>
                    <a:pt x="145531" y="0"/>
                  </a:cubicBezTo>
                  <a:close/>
                </a:path>
              </a:pathLst>
            </a:custGeom>
            <a:solidFill>
              <a:srgbClr val="40513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09257" cy="1259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939513" y="4952588"/>
            <a:ext cx="5319787" cy="4305712"/>
            <a:chOff x="0" y="0"/>
            <a:chExt cx="1509257" cy="12215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09257" cy="1221558"/>
            </a:xfrm>
            <a:custGeom>
              <a:avLst/>
              <a:gdLst/>
              <a:ahLst/>
              <a:cxnLst/>
              <a:rect r="r" b="b" t="t" l="l"/>
              <a:pathLst>
                <a:path h="1221558" w="1509257">
                  <a:moveTo>
                    <a:pt x="145531" y="0"/>
                  </a:moveTo>
                  <a:lnTo>
                    <a:pt x="1363726" y="0"/>
                  </a:lnTo>
                  <a:cubicBezTo>
                    <a:pt x="1402324" y="0"/>
                    <a:pt x="1439340" y="15333"/>
                    <a:pt x="1466632" y="42625"/>
                  </a:cubicBezTo>
                  <a:cubicBezTo>
                    <a:pt x="1493924" y="69917"/>
                    <a:pt x="1509257" y="106934"/>
                    <a:pt x="1509257" y="145531"/>
                  </a:cubicBezTo>
                  <a:lnTo>
                    <a:pt x="1509257" y="1076027"/>
                  </a:lnTo>
                  <a:cubicBezTo>
                    <a:pt x="1509257" y="1114624"/>
                    <a:pt x="1493924" y="1151640"/>
                    <a:pt x="1466632" y="1178933"/>
                  </a:cubicBezTo>
                  <a:cubicBezTo>
                    <a:pt x="1439340" y="1206225"/>
                    <a:pt x="1402324" y="1221558"/>
                    <a:pt x="1363726" y="1221558"/>
                  </a:cubicBezTo>
                  <a:lnTo>
                    <a:pt x="145531" y="1221558"/>
                  </a:lnTo>
                  <a:cubicBezTo>
                    <a:pt x="106934" y="1221558"/>
                    <a:pt x="69917" y="1206225"/>
                    <a:pt x="42625" y="1178933"/>
                  </a:cubicBezTo>
                  <a:cubicBezTo>
                    <a:pt x="15333" y="1151640"/>
                    <a:pt x="0" y="1114624"/>
                    <a:pt x="0" y="1076027"/>
                  </a:cubicBezTo>
                  <a:lnTo>
                    <a:pt x="0" y="145531"/>
                  </a:lnTo>
                  <a:cubicBezTo>
                    <a:pt x="0" y="106934"/>
                    <a:pt x="15333" y="69917"/>
                    <a:pt x="42625" y="42625"/>
                  </a:cubicBezTo>
                  <a:cubicBezTo>
                    <a:pt x="69917" y="15333"/>
                    <a:pt x="106934" y="0"/>
                    <a:pt x="145531" y="0"/>
                  </a:cubicBezTo>
                  <a:close/>
                </a:path>
              </a:pathLst>
            </a:custGeom>
            <a:solidFill>
              <a:srgbClr val="40513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509257" cy="1259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1462426"/>
            <a:ext cx="10307662" cy="917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1"/>
              </a:lnSpc>
            </a:pPr>
            <a:r>
              <a:rPr lang="en-US" b="true" sz="6722" spc="-208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Operational Timeline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66550" y="5486012"/>
            <a:ext cx="2498207" cy="329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52"/>
              </a:lnSpc>
            </a:pPr>
            <a:r>
              <a:rPr lang="en-US" b="true" sz="2554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90 Days Before: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0258" y="6174062"/>
            <a:ext cx="7669892" cy="137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38"/>
              </a:lnSpc>
            </a:pPr>
            <a:r>
              <a:rPr lang="en-US" sz="2122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Venue planning and logistics coordination.</a:t>
            </a:r>
          </a:p>
          <a:p>
            <a:pPr algn="just" marL="0" indent="0" lvl="0">
              <a:lnSpc>
                <a:spcPts val="2738"/>
              </a:lnSpc>
            </a:pPr>
            <a:r>
              <a:rPr lang="en-US" sz="2122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 Sponsor outreach and partnership </a:t>
            </a:r>
          </a:p>
          <a:p>
            <a:pPr algn="just" marL="0" indent="0" lvl="0">
              <a:lnSpc>
                <a:spcPts val="2738"/>
              </a:lnSpc>
            </a:pPr>
            <a:r>
              <a:rPr lang="en-US" sz="2122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agreements. Speaker onboarding and </a:t>
            </a:r>
          </a:p>
          <a:p>
            <a:pPr algn="just" marL="0" indent="0" lvl="0">
              <a:lnSpc>
                <a:spcPts val="2738"/>
              </a:lnSpc>
            </a:pPr>
            <a:r>
              <a:rPr lang="en-US" sz="2122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session planning.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19412" y="5486012"/>
            <a:ext cx="2498207" cy="329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52"/>
              </a:lnSpc>
            </a:pPr>
            <a:r>
              <a:rPr lang="en-US" b="true" sz="2554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30 Days Before: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65959" y="6309800"/>
            <a:ext cx="7456967" cy="1333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6"/>
              </a:lnSpc>
            </a:pPr>
            <a:r>
              <a:rPr lang="en-US" sz="2122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Agenda finalization and schedule lock. </a:t>
            </a:r>
          </a:p>
          <a:p>
            <a:pPr algn="just" marL="0" indent="0" lvl="0">
              <a:lnSpc>
                <a:spcPts val="2696"/>
              </a:lnSpc>
            </a:pPr>
            <a:r>
              <a:rPr lang="en-US" sz="2122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Volunteer recruitment and </a:t>
            </a:r>
          </a:p>
          <a:p>
            <a:pPr algn="just" marL="0" indent="0" lvl="0">
              <a:lnSpc>
                <a:spcPts val="2696"/>
              </a:lnSpc>
            </a:pPr>
            <a:r>
              <a:rPr lang="en-US" sz="2122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training. Testing systems and </a:t>
            </a:r>
          </a:p>
          <a:p>
            <a:pPr algn="just" marL="0" indent="0" lvl="0">
              <a:lnSpc>
                <a:spcPts val="2696"/>
              </a:lnSpc>
            </a:pPr>
            <a:r>
              <a:rPr lang="en-US" sz="2122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operational briefings.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74818" y="5486012"/>
            <a:ext cx="2498207" cy="329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52"/>
              </a:lnSpc>
            </a:pPr>
            <a:r>
              <a:rPr lang="en-US" b="true" sz="2554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Event &amp; Post: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63338" y="6183587"/>
            <a:ext cx="8983433" cy="1672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53"/>
              </a:lnSpc>
            </a:pPr>
            <a:r>
              <a:rPr lang="en-US" sz="2122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Live execution and escalation </a:t>
            </a:r>
          </a:p>
          <a:p>
            <a:pPr algn="just" marL="0" indent="0" lvl="0">
              <a:lnSpc>
                <a:spcPts val="2653"/>
              </a:lnSpc>
            </a:pPr>
            <a:r>
              <a:rPr lang="en-US" sz="2122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management. </a:t>
            </a:r>
          </a:p>
          <a:p>
            <a:pPr algn="just" marL="0" indent="0" lvl="0">
              <a:lnSpc>
                <a:spcPts val="2653"/>
              </a:lnSpc>
            </a:pPr>
            <a:r>
              <a:rPr lang="en-US" sz="2122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Real-time monitoring and </a:t>
            </a:r>
          </a:p>
          <a:p>
            <a:pPr algn="just" marL="0" indent="0" lvl="0">
              <a:lnSpc>
                <a:spcPts val="2653"/>
              </a:lnSpc>
            </a:pPr>
            <a:r>
              <a:rPr lang="en-US" sz="2122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incident response. Post-event reporting, </a:t>
            </a:r>
          </a:p>
          <a:p>
            <a:pPr algn="just" marL="0" indent="0" lvl="0">
              <a:lnSpc>
                <a:spcPts val="2653"/>
              </a:lnSpc>
            </a:pPr>
            <a:r>
              <a:rPr lang="en-US" sz="2122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analytics, and sponsor follow-up.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81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188358">
            <a:off x="-1521848" y="975984"/>
            <a:ext cx="14303553" cy="9258300"/>
          </a:xfrm>
          <a:custGeom>
            <a:avLst/>
            <a:gdLst/>
            <a:ahLst/>
            <a:cxnLst/>
            <a:rect r="r" b="b" t="t" l="l"/>
            <a:pathLst>
              <a:path h="9258300" w="14303553">
                <a:moveTo>
                  <a:pt x="0" y="0"/>
                </a:moveTo>
                <a:lnTo>
                  <a:pt x="14303553" y="0"/>
                </a:lnTo>
                <a:lnTo>
                  <a:pt x="14303553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43000"/>
            <a:ext cx="11224320" cy="2060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64"/>
              </a:lnSpc>
            </a:pPr>
            <a:r>
              <a:rPr lang="en-US" b="true" sz="7657" spc="-237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AI Workflow &amp; Automation Concepts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23651" y="4356377"/>
            <a:ext cx="8020349" cy="2291158"/>
            <a:chOff x="0" y="0"/>
            <a:chExt cx="2028771" cy="5795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28771" cy="579555"/>
            </a:xfrm>
            <a:custGeom>
              <a:avLst/>
              <a:gdLst/>
              <a:ahLst/>
              <a:cxnLst/>
              <a:rect r="r" b="b" t="t" l="l"/>
              <a:pathLst>
                <a:path h="579555" w="2028771">
                  <a:moveTo>
                    <a:pt x="70466" y="0"/>
                  </a:moveTo>
                  <a:lnTo>
                    <a:pt x="1958305" y="0"/>
                  </a:lnTo>
                  <a:cubicBezTo>
                    <a:pt x="1976994" y="0"/>
                    <a:pt x="1994917" y="7424"/>
                    <a:pt x="2008132" y="20639"/>
                  </a:cubicBezTo>
                  <a:cubicBezTo>
                    <a:pt x="2021347" y="33854"/>
                    <a:pt x="2028771" y="51777"/>
                    <a:pt x="2028771" y="70466"/>
                  </a:cubicBezTo>
                  <a:lnTo>
                    <a:pt x="2028771" y="509090"/>
                  </a:lnTo>
                  <a:cubicBezTo>
                    <a:pt x="2028771" y="548007"/>
                    <a:pt x="1997222" y="579555"/>
                    <a:pt x="1958305" y="579555"/>
                  </a:cubicBezTo>
                  <a:lnTo>
                    <a:pt x="70466" y="579555"/>
                  </a:lnTo>
                  <a:cubicBezTo>
                    <a:pt x="51777" y="579555"/>
                    <a:pt x="33854" y="572131"/>
                    <a:pt x="20639" y="558916"/>
                  </a:cubicBezTo>
                  <a:cubicBezTo>
                    <a:pt x="7424" y="545701"/>
                    <a:pt x="0" y="527778"/>
                    <a:pt x="0" y="509090"/>
                  </a:cubicBezTo>
                  <a:lnTo>
                    <a:pt x="0" y="70466"/>
                  </a:lnTo>
                  <a:cubicBezTo>
                    <a:pt x="0" y="51777"/>
                    <a:pt x="7424" y="33854"/>
                    <a:pt x="20639" y="20639"/>
                  </a:cubicBezTo>
                  <a:cubicBezTo>
                    <a:pt x="33854" y="7424"/>
                    <a:pt x="51777" y="0"/>
                    <a:pt x="70466" y="0"/>
                  </a:cubicBezTo>
                  <a:close/>
                </a:path>
              </a:pathLst>
            </a:custGeom>
            <a:solidFill>
              <a:srgbClr val="40513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028771" cy="617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07494" y="5292718"/>
            <a:ext cx="668982" cy="66898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733727" y="4911026"/>
            <a:ext cx="5859718" cy="264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3"/>
              </a:lnSpc>
            </a:pPr>
            <a:r>
              <a:rPr lang="en-US" b="true" sz="1993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AI Sponsor Onboarding: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33727" y="5394012"/>
            <a:ext cx="6315322" cy="507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5"/>
              </a:lnSpc>
            </a:pPr>
            <a:r>
              <a:rPr lang="en-US" sz="2037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Automated welcome sequences, document collection, and branding asset coordination for sponsors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238951" y="4459554"/>
            <a:ext cx="8020349" cy="2291158"/>
            <a:chOff x="0" y="0"/>
            <a:chExt cx="2028771" cy="5795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28771" cy="579555"/>
            </a:xfrm>
            <a:custGeom>
              <a:avLst/>
              <a:gdLst/>
              <a:ahLst/>
              <a:cxnLst/>
              <a:rect r="r" b="b" t="t" l="l"/>
              <a:pathLst>
                <a:path h="579555" w="2028771">
                  <a:moveTo>
                    <a:pt x="70466" y="0"/>
                  </a:moveTo>
                  <a:lnTo>
                    <a:pt x="1958305" y="0"/>
                  </a:lnTo>
                  <a:cubicBezTo>
                    <a:pt x="1976994" y="0"/>
                    <a:pt x="1994917" y="7424"/>
                    <a:pt x="2008132" y="20639"/>
                  </a:cubicBezTo>
                  <a:cubicBezTo>
                    <a:pt x="2021347" y="33854"/>
                    <a:pt x="2028771" y="51777"/>
                    <a:pt x="2028771" y="70466"/>
                  </a:cubicBezTo>
                  <a:lnTo>
                    <a:pt x="2028771" y="509090"/>
                  </a:lnTo>
                  <a:cubicBezTo>
                    <a:pt x="2028771" y="548007"/>
                    <a:pt x="1997222" y="579555"/>
                    <a:pt x="1958305" y="579555"/>
                  </a:cubicBezTo>
                  <a:lnTo>
                    <a:pt x="70466" y="579555"/>
                  </a:lnTo>
                  <a:cubicBezTo>
                    <a:pt x="51777" y="579555"/>
                    <a:pt x="33854" y="572131"/>
                    <a:pt x="20639" y="558916"/>
                  </a:cubicBezTo>
                  <a:cubicBezTo>
                    <a:pt x="7424" y="545701"/>
                    <a:pt x="0" y="527778"/>
                    <a:pt x="0" y="509090"/>
                  </a:cubicBezTo>
                  <a:lnTo>
                    <a:pt x="0" y="70466"/>
                  </a:lnTo>
                  <a:cubicBezTo>
                    <a:pt x="0" y="51777"/>
                    <a:pt x="7424" y="33854"/>
                    <a:pt x="20639" y="20639"/>
                  </a:cubicBezTo>
                  <a:cubicBezTo>
                    <a:pt x="33854" y="7424"/>
                    <a:pt x="51777" y="0"/>
                    <a:pt x="70466" y="0"/>
                  </a:cubicBezTo>
                  <a:close/>
                </a:path>
              </a:pathLst>
            </a:custGeom>
            <a:solidFill>
              <a:srgbClr val="40513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28771" cy="617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917745" y="5292718"/>
            <a:ext cx="668982" cy="66898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943978" y="4911026"/>
            <a:ext cx="4172225" cy="264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3"/>
              </a:lnSpc>
            </a:pPr>
            <a:r>
              <a:rPr lang="en-US" b="true" sz="1993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AI Speaker Follow-Up: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943978" y="5394012"/>
            <a:ext cx="6315322" cy="507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5"/>
              </a:lnSpc>
            </a:pPr>
            <a:r>
              <a:rPr lang="en-US" sz="2037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Intelligent reminders for session confirmations, bio submissions, and presentation uploads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8700" y="6967142"/>
            <a:ext cx="8020349" cy="2291158"/>
            <a:chOff x="0" y="0"/>
            <a:chExt cx="2028771" cy="57955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28771" cy="579555"/>
            </a:xfrm>
            <a:custGeom>
              <a:avLst/>
              <a:gdLst/>
              <a:ahLst/>
              <a:cxnLst/>
              <a:rect r="r" b="b" t="t" l="l"/>
              <a:pathLst>
                <a:path h="579555" w="2028771">
                  <a:moveTo>
                    <a:pt x="70466" y="0"/>
                  </a:moveTo>
                  <a:lnTo>
                    <a:pt x="1958305" y="0"/>
                  </a:lnTo>
                  <a:cubicBezTo>
                    <a:pt x="1976994" y="0"/>
                    <a:pt x="1994917" y="7424"/>
                    <a:pt x="2008132" y="20639"/>
                  </a:cubicBezTo>
                  <a:cubicBezTo>
                    <a:pt x="2021347" y="33854"/>
                    <a:pt x="2028771" y="51777"/>
                    <a:pt x="2028771" y="70466"/>
                  </a:cubicBezTo>
                  <a:lnTo>
                    <a:pt x="2028771" y="509090"/>
                  </a:lnTo>
                  <a:cubicBezTo>
                    <a:pt x="2028771" y="548007"/>
                    <a:pt x="1997222" y="579555"/>
                    <a:pt x="1958305" y="579555"/>
                  </a:cubicBezTo>
                  <a:lnTo>
                    <a:pt x="70466" y="579555"/>
                  </a:lnTo>
                  <a:cubicBezTo>
                    <a:pt x="51777" y="579555"/>
                    <a:pt x="33854" y="572131"/>
                    <a:pt x="20639" y="558916"/>
                  </a:cubicBezTo>
                  <a:cubicBezTo>
                    <a:pt x="7424" y="545701"/>
                    <a:pt x="0" y="527778"/>
                    <a:pt x="0" y="509090"/>
                  </a:cubicBezTo>
                  <a:lnTo>
                    <a:pt x="0" y="70466"/>
                  </a:lnTo>
                  <a:cubicBezTo>
                    <a:pt x="0" y="51777"/>
                    <a:pt x="7424" y="33854"/>
                    <a:pt x="20639" y="20639"/>
                  </a:cubicBezTo>
                  <a:cubicBezTo>
                    <a:pt x="33854" y="7424"/>
                    <a:pt x="51777" y="0"/>
                    <a:pt x="70466" y="0"/>
                  </a:cubicBezTo>
                  <a:close/>
                </a:path>
              </a:pathLst>
            </a:custGeom>
            <a:solidFill>
              <a:srgbClr val="40513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028771" cy="617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707494" y="7800306"/>
            <a:ext cx="668982" cy="668982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733727" y="7418613"/>
            <a:ext cx="4172225" cy="264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3"/>
              </a:lnSpc>
            </a:pPr>
            <a:r>
              <a:rPr lang="en-US" b="true" sz="1993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AI Matchmaking: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733727" y="7901599"/>
            <a:ext cx="6315322" cy="507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5"/>
              </a:lnSpc>
            </a:pPr>
            <a:r>
              <a:rPr lang="en-US" sz="2037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Smart attendee recommendations based on interests, industry, and networking goals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38951" y="6967142"/>
            <a:ext cx="8020349" cy="2291158"/>
            <a:chOff x="0" y="0"/>
            <a:chExt cx="2028771" cy="57955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28771" cy="579555"/>
            </a:xfrm>
            <a:custGeom>
              <a:avLst/>
              <a:gdLst/>
              <a:ahLst/>
              <a:cxnLst/>
              <a:rect r="r" b="b" t="t" l="l"/>
              <a:pathLst>
                <a:path h="579555" w="2028771">
                  <a:moveTo>
                    <a:pt x="70466" y="0"/>
                  </a:moveTo>
                  <a:lnTo>
                    <a:pt x="1958305" y="0"/>
                  </a:lnTo>
                  <a:cubicBezTo>
                    <a:pt x="1976994" y="0"/>
                    <a:pt x="1994917" y="7424"/>
                    <a:pt x="2008132" y="20639"/>
                  </a:cubicBezTo>
                  <a:cubicBezTo>
                    <a:pt x="2021347" y="33854"/>
                    <a:pt x="2028771" y="51777"/>
                    <a:pt x="2028771" y="70466"/>
                  </a:cubicBezTo>
                  <a:lnTo>
                    <a:pt x="2028771" y="509090"/>
                  </a:lnTo>
                  <a:cubicBezTo>
                    <a:pt x="2028771" y="548007"/>
                    <a:pt x="1997222" y="579555"/>
                    <a:pt x="1958305" y="579555"/>
                  </a:cubicBezTo>
                  <a:lnTo>
                    <a:pt x="70466" y="579555"/>
                  </a:lnTo>
                  <a:cubicBezTo>
                    <a:pt x="51777" y="579555"/>
                    <a:pt x="33854" y="572131"/>
                    <a:pt x="20639" y="558916"/>
                  </a:cubicBezTo>
                  <a:cubicBezTo>
                    <a:pt x="7424" y="545701"/>
                    <a:pt x="0" y="527778"/>
                    <a:pt x="0" y="509090"/>
                  </a:cubicBezTo>
                  <a:lnTo>
                    <a:pt x="0" y="70466"/>
                  </a:lnTo>
                  <a:cubicBezTo>
                    <a:pt x="0" y="51777"/>
                    <a:pt x="7424" y="33854"/>
                    <a:pt x="20639" y="20639"/>
                  </a:cubicBezTo>
                  <a:cubicBezTo>
                    <a:pt x="33854" y="7424"/>
                    <a:pt x="51777" y="0"/>
                    <a:pt x="70466" y="0"/>
                  </a:cubicBezTo>
                  <a:close/>
                </a:path>
              </a:pathLst>
            </a:custGeom>
            <a:solidFill>
              <a:srgbClr val="40513B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028771" cy="617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917745" y="7800306"/>
            <a:ext cx="668982" cy="668982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0943978" y="7418613"/>
            <a:ext cx="4172225" cy="264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3"/>
              </a:lnSpc>
            </a:pPr>
            <a:r>
              <a:rPr lang="en-US" b="true" sz="1993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AI Chatbot &amp; Summaries: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943978" y="7901599"/>
            <a:ext cx="6315322" cy="507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5"/>
              </a:lnSpc>
            </a:pPr>
            <a:r>
              <a:rPr lang="en-US" sz="2037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24/7 FAQ support and AI-generated operational reports for real-time insights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5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5529" y="4387302"/>
            <a:ext cx="8017063" cy="4870998"/>
            <a:chOff x="0" y="0"/>
            <a:chExt cx="2111490" cy="12828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11490" cy="1282896"/>
            </a:xfrm>
            <a:custGeom>
              <a:avLst/>
              <a:gdLst/>
              <a:ahLst/>
              <a:cxnLst/>
              <a:rect r="r" b="b" t="t" l="l"/>
              <a:pathLst>
                <a:path h="1282896" w="2111490">
                  <a:moveTo>
                    <a:pt x="96568" y="0"/>
                  </a:moveTo>
                  <a:lnTo>
                    <a:pt x="2014922" y="0"/>
                  </a:lnTo>
                  <a:cubicBezTo>
                    <a:pt x="2068255" y="0"/>
                    <a:pt x="2111490" y="43235"/>
                    <a:pt x="2111490" y="96568"/>
                  </a:cubicBezTo>
                  <a:lnTo>
                    <a:pt x="2111490" y="1186328"/>
                  </a:lnTo>
                  <a:cubicBezTo>
                    <a:pt x="2111490" y="1239662"/>
                    <a:pt x="2068255" y="1282896"/>
                    <a:pt x="2014922" y="1282896"/>
                  </a:cubicBezTo>
                  <a:lnTo>
                    <a:pt x="96568" y="1282896"/>
                  </a:lnTo>
                  <a:cubicBezTo>
                    <a:pt x="70957" y="1282896"/>
                    <a:pt x="46394" y="1272722"/>
                    <a:pt x="28284" y="1254612"/>
                  </a:cubicBezTo>
                  <a:cubicBezTo>
                    <a:pt x="10174" y="1236502"/>
                    <a:pt x="0" y="1211940"/>
                    <a:pt x="0" y="1186328"/>
                  </a:cubicBezTo>
                  <a:lnTo>
                    <a:pt x="0" y="96568"/>
                  </a:lnTo>
                  <a:cubicBezTo>
                    <a:pt x="0" y="43235"/>
                    <a:pt x="43235" y="0"/>
                    <a:pt x="96568" y="0"/>
                  </a:cubicBezTo>
                  <a:close/>
                </a:path>
              </a:pathLst>
            </a:custGeom>
            <a:solidFill>
              <a:srgbClr val="62814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11490" cy="1320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10617" y="5285599"/>
            <a:ext cx="603967" cy="60396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11436" y="6634121"/>
            <a:ext cx="603967" cy="60396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12254" y="7982643"/>
            <a:ext cx="603967" cy="60396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4966841">
            <a:off x="8310769" y="-2427958"/>
            <a:ext cx="11980766" cy="9970570"/>
          </a:xfrm>
          <a:custGeom>
            <a:avLst/>
            <a:gdLst/>
            <a:ahLst/>
            <a:cxnLst/>
            <a:rect r="r" b="b" t="t" l="l"/>
            <a:pathLst>
              <a:path h="9970570" w="11980766">
                <a:moveTo>
                  <a:pt x="0" y="0"/>
                </a:moveTo>
                <a:lnTo>
                  <a:pt x="11980766" y="0"/>
                </a:lnTo>
                <a:lnTo>
                  <a:pt x="11980766" y="9970571"/>
                </a:lnTo>
                <a:lnTo>
                  <a:pt x="0" y="99705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9009102" y="4387302"/>
            <a:ext cx="8250198" cy="4870998"/>
            <a:chOff x="0" y="0"/>
            <a:chExt cx="1238634" cy="7313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38634" cy="731301"/>
            </a:xfrm>
            <a:custGeom>
              <a:avLst/>
              <a:gdLst/>
              <a:ahLst/>
              <a:cxnLst/>
              <a:rect r="r" b="b" t="t" l="l"/>
              <a:pathLst>
                <a:path h="731301" w="1238634">
                  <a:moveTo>
                    <a:pt x="93839" y="0"/>
                  </a:moveTo>
                  <a:lnTo>
                    <a:pt x="1144794" y="0"/>
                  </a:lnTo>
                  <a:cubicBezTo>
                    <a:pt x="1196620" y="0"/>
                    <a:pt x="1238634" y="42013"/>
                    <a:pt x="1238634" y="93839"/>
                  </a:cubicBezTo>
                  <a:lnTo>
                    <a:pt x="1238634" y="637462"/>
                  </a:lnTo>
                  <a:cubicBezTo>
                    <a:pt x="1238634" y="689288"/>
                    <a:pt x="1196620" y="731301"/>
                    <a:pt x="1144794" y="731301"/>
                  </a:cubicBezTo>
                  <a:lnTo>
                    <a:pt x="93839" y="731301"/>
                  </a:lnTo>
                  <a:cubicBezTo>
                    <a:pt x="68951" y="731301"/>
                    <a:pt x="45083" y="721415"/>
                    <a:pt x="27485" y="703817"/>
                  </a:cubicBezTo>
                  <a:cubicBezTo>
                    <a:pt x="9887" y="686218"/>
                    <a:pt x="0" y="662350"/>
                    <a:pt x="0" y="637462"/>
                  </a:cubicBezTo>
                  <a:lnTo>
                    <a:pt x="0" y="93839"/>
                  </a:lnTo>
                  <a:cubicBezTo>
                    <a:pt x="0" y="68951"/>
                    <a:pt x="9887" y="45083"/>
                    <a:pt x="27485" y="27485"/>
                  </a:cubicBezTo>
                  <a:cubicBezTo>
                    <a:pt x="45083" y="9887"/>
                    <a:pt x="68951" y="0"/>
                    <a:pt x="93839" y="0"/>
                  </a:cubicBezTo>
                  <a:close/>
                </a:path>
              </a:pathLst>
            </a:custGeom>
            <a:blipFill>
              <a:blip r:embed="rId4"/>
              <a:stretch>
                <a:fillRect l="-1790" t="0" r="-179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28700" y="1152525"/>
            <a:ext cx="11171299" cy="221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50"/>
              </a:lnSpc>
            </a:pPr>
            <a:r>
              <a:rPr lang="en-US" b="true" sz="8221" spc="-254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Hackathon Coordination Logic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37116" y="4944704"/>
            <a:ext cx="3766748" cy="255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54"/>
              </a:lnSpc>
            </a:pPr>
            <a:r>
              <a:rPr lang="en-US" b="true" sz="193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Participant Scale: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37116" y="5390277"/>
            <a:ext cx="6024980" cy="482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95"/>
              </a:lnSpc>
            </a:pPr>
            <a:r>
              <a:rPr lang="en-US" sz="1974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100 participants organized across 20 competitive teams with dedicated mentor and judge coordination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37934" y="6293226"/>
            <a:ext cx="3766748" cy="255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54"/>
              </a:lnSpc>
            </a:pPr>
            <a:r>
              <a:rPr lang="en-US" b="true" sz="193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AI Team Formation: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37934" y="6738798"/>
            <a:ext cx="6024162" cy="482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95"/>
              </a:lnSpc>
            </a:pPr>
            <a:r>
              <a:rPr lang="en-US" sz="1974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AI-assisted team matching based on skills, interests, and experience levels for optimal collaboration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38753" y="7641748"/>
            <a:ext cx="3766748" cy="255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54"/>
              </a:lnSpc>
            </a:pPr>
            <a:r>
              <a:rPr lang="en-US" b="true" sz="193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Real-Time Communication: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038753" y="8087320"/>
            <a:ext cx="6023343" cy="482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95"/>
              </a:lnSpc>
            </a:pPr>
            <a:r>
              <a:rPr lang="en-US" sz="1974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Integrated Slack and Discord channels for instant updates, mentor support, and team coordination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5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368433">
            <a:off x="5703349" y="-511882"/>
            <a:ext cx="14303553" cy="9258300"/>
          </a:xfrm>
          <a:custGeom>
            <a:avLst/>
            <a:gdLst/>
            <a:ahLst/>
            <a:cxnLst/>
            <a:rect r="r" b="b" t="t" l="l"/>
            <a:pathLst>
              <a:path h="9258300" w="14303553">
                <a:moveTo>
                  <a:pt x="0" y="0"/>
                </a:moveTo>
                <a:lnTo>
                  <a:pt x="14303553" y="0"/>
                </a:lnTo>
                <a:lnTo>
                  <a:pt x="14303553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34731" y="1133475"/>
            <a:ext cx="12723586" cy="1945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50"/>
              </a:lnSpc>
            </a:pPr>
            <a:r>
              <a:rPr lang="en-US" b="true" sz="7259" spc="-225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Operations Dashboard Concept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09643" y="3767482"/>
            <a:ext cx="17268715" cy="2055838"/>
            <a:chOff x="0" y="0"/>
            <a:chExt cx="4759437" cy="5666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59437" cy="566610"/>
            </a:xfrm>
            <a:custGeom>
              <a:avLst/>
              <a:gdLst/>
              <a:ahLst/>
              <a:cxnLst/>
              <a:rect r="r" b="b" t="t" l="l"/>
              <a:pathLst>
                <a:path h="566610" w="4759437">
                  <a:moveTo>
                    <a:pt x="29141" y="0"/>
                  </a:moveTo>
                  <a:lnTo>
                    <a:pt x="4730296" y="0"/>
                  </a:lnTo>
                  <a:cubicBezTo>
                    <a:pt x="4746390" y="0"/>
                    <a:pt x="4759437" y="13047"/>
                    <a:pt x="4759437" y="29141"/>
                  </a:cubicBezTo>
                  <a:lnTo>
                    <a:pt x="4759437" y="537470"/>
                  </a:lnTo>
                  <a:cubicBezTo>
                    <a:pt x="4759437" y="553564"/>
                    <a:pt x="4746390" y="566610"/>
                    <a:pt x="4730296" y="566610"/>
                  </a:cubicBezTo>
                  <a:lnTo>
                    <a:pt x="29141" y="566610"/>
                  </a:lnTo>
                  <a:cubicBezTo>
                    <a:pt x="13047" y="566610"/>
                    <a:pt x="0" y="553564"/>
                    <a:pt x="0" y="537470"/>
                  </a:cubicBezTo>
                  <a:lnTo>
                    <a:pt x="0" y="29141"/>
                  </a:lnTo>
                  <a:cubicBezTo>
                    <a:pt x="0" y="13047"/>
                    <a:pt x="13047" y="0"/>
                    <a:pt x="29141" y="0"/>
                  </a:cubicBezTo>
                  <a:close/>
                </a:path>
              </a:pathLst>
            </a:custGeom>
            <a:solidFill>
              <a:srgbClr val="62814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759437" cy="604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10637" y="4524193"/>
            <a:ext cx="689520" cy="68952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893804" y="4129612"/>
            <a:ext cx="6698061" cy="237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66"/>
              </a:lnSpc>
            </a:pPr>
            <a:r>
              <a:rPr lang="en-US" b="true" sz="184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Sponsor &amp; Speaker Tracking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03329" y="4560751"/>
            <a:ext cx="6932902" cy="587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7"/>
              </a:lnSpc>
            </a:pPr>
            <a:r>
              <a:rPr lang="en-US" sz="1774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Real-time monitoring of sponsor onboarding status, exhibitor booth assignments, and speaker confirmations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750925" y="4524193"/>
            <a:ext cx="689520" cy="68952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657455" y="4129612"/>
            <a:ext cx="6902443" cy="237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66"/>
              </a:lnSpc>
            </a:pPr>
            <a:r>
              <a:rPr lang="en-US" b="true" sz="184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Ticket Sales Monitoring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76505" y="4560751"/>
            <a:ext cx="6902443" cy="5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24"/>
              </a:lnSpc>
            </a:pPr>
            <a:r>
              <a:rPr lang="en-US" sz="1774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Live dashboards tracking ticket sales velocity, attendee growth trends, and registration analytics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09643" y="6199804"/>
            <a:ext cx="17268715" cy="2055838"/>
            <a:chOff x="0" y="0"/>
            <a:chExt cx="4759437" cy="5666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759437" cy="566610"/>
            </a:xfrm>
            <a:custGeom>
              <a:avLst/>
              <a:gdLst/>
              <a:ahLst/>
              <a:cxnLst/>
              <a:rect r="r" b="b" t="t" l="l"/>
              <a:pathLst>
                <a:path h="566610" w="4759437">
                  <a:moveTo>
                    <a:pt x="29141" y="0"/>
                  </a:moveTo>
                  <a:lnTo>
                    <a:pt x="4730296" y="0"/>
                  </a:lnTo>
                  <a:cubicBezTo>
                    <a:pt x="4746390" y="0"/>
                    <a:pt x="4759437" y="13047"/>
                    <a:pt x="4759437" y="29141"/>
                  </a:cubicBezTo>
                  <a:lnTo>
                    <a:pt x="4759437" y="537470"/>
                  </a:lnTo>
                  <a:cubicBezTo>
                    <a:pt x="4759437" y="553564"/>
                    <a:pt x="4746390" y="566610"/>
                    <a:pt x="4730296" y="566610"/>
                  </a:cubicBezTo>
                  <a:lnTo>
                    <a:pt x="29141" y="566610"/>
                  </a:lnTo>
                  <a:cubicBezTo>
                    <a:pt x="13047" y="566610"/>
                    <a:pt x="0" y="553564"/>
                    <a:pt x="0" y="537470"/>
                  </a:cubicBezTo>
                  <a:lnTo>
                    <a:pt x="0" y="29141"/>
                  </a:lnTo>
                  <a:cubicBezTo>
                    <a:pt x="0" y="13047"/>
                    <a:pt x="13047" y="0"/>
                    <a:pt x="29141" y="0"/>
                  </a:cubicBezTo>
                  <a:close/>
                </a:path>
              </a:pathLst>
            </a:custGeom>
            <a:solidFill>
              <a:srgbClr val="62814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759437" cy="604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10637" y="6956515"/>
            <a:ext cx="689520" cy="68952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924918" y="6561934"/>
            <a:ext cx="4910898" cy="237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66"/>
              </a:lnSpc>
            </a:pPr>
            <a:r>
              <a:rPr lang="en-US" b="true" sz="184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Task Management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34443" y="6993073"/>
            <a:ext cx="7180982" cy="592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2"/>
              </a:lnSpc>
            </a:pPr>
            <a:r>
              <a:rPr lang="en-US" sz="1774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Centralized deadline tracking and task coordination using Notion and Airtable workflows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825060" y="6956515"/>
            <a:ext cx="689520" cy="68952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785482" y="6561934"/>
            <a:ext cx="6902443" cy="237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66"/>
              </a:lnSpc>
            </a:pPr>
            <a:r>
              <a:rPr lang="en-US" b="true" sz="184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Incident Escalation Monitoring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785482" y="6993073"/>
            <a:ext cx="6902443" cy="577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6"/>
              </a:lnSpc>
            </a:pPr>
            <a:r>
              <a:rPr lang="en-US" sz="1774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Live operations monitoring with Power BI for rapid issue detection and resolution tracking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5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40909" y="-1185483"/>
            <a:ext cx="9790865" cy="8812622"/>
          </a:xfrm>
          <a:custGeom>
            <a:avLst/>
            <a:gdLst/>
            <a:ahLst/>
            <a:cxnLst/>
            <a:rect r="r" b="b" t="t" l="l"/>
            <a:pathLst>
              <a:path h="8812622" w="9790865">
                <a:moveTo>
                  <a:pt x="0" y="0"/>
                </a:moveTo>
                <a:lnTo>
                  <a:pt x="9790864" y="0"/>
                </a:lnTo>
                <a:lnTo>
                  <a:pt x="9790864" y="8812622"/>
                </a:lnTo>
                <a:lnTo>
                  <a:pt x="0" y="8812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3178370"/>
            <a:ext cx="5079045" cy="1001750"/>
            <a:chOff x="0" y="0"/>
            <a:chExt cx="2060518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60518" cy="406400"/>
            </a:xfrm>
            <a:custGeom>
              <a:avLst/>
              <a:gdLst/>
              <a:ahLst/>
              <a:cxnLst/>
              <a:rect r="r" b="b" t="t" l="l"/>
              <a:pathLst>
                <a:path h="406400" w="2060518">
                  <a:moveTo>
                    <a:pt x="1857318" y="0"/>
                  </a:moveTo>
                  <a:cubicBezTo>
                    <a:pt x="1969542" y="0"/>
                    <a:pt x="2060518" y="90976"/>
                    <a:pt x="2060518" y="203200"/>
                  </a:cubicBezTo>
                  <a:cubicBezTo>
                    <a:pt x="2060518" y="315424"/>
                    <a:pt x="1969542" y="406400"/>
                    <a:pt x="185731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060518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924925" y="1028700"/>
            <a:ext cx="8843312" cy="8229600"/>
            <a:chOff x="0" y="0"/>
            <a:chExt cx="2329103" cy="21674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29103" cy="2167467"/>
            </a:xfrm>
            <a:custGeom>
              <a:avLst/>
              <a:gdLst/>
              <a:ahLst/>
              <a:cxnLst/>
              <a:rect r="r" b="b" t="t" l="l"/>
              <a:pathLst>
                <a:path h="2167467" w="2329103">
                  <a:moveTo>
                    <a:pt x="87545" y="0"/>
                  </a:moveTo>
                  <a:lnTo>
                    <a:pt x="2241557" y="0"/>
                  </a:lnTo>
                  <a:cubicBezTo>
                    <a:pt x="2289907" y="0"/>
                    <a:pt x="2329103" y="39195"/>
                    <a:pt x="2329103" y="87545"/>
                  </a:cubicBezTo>
                  <a:lnTo>
                    <a:pt x="2329103" y="2079921"/>
                  </a:lnTo>
                  <a:cubicBezTo>
                    <a:pt x="2329103" y="2128271"/>
                    <a:pt x="2289907" y="2167467"/>
                    <a:pt x="2241557" y="2167467"/>
                  </a:cubicBezTo>
                  <a:lnTo>
                    <a:pt x="87545" y="2167467"/>
                  </a:lnTo>
                  <a:cubicBezTo>
                    <a:pt x="64327" y="2167467"/>
                    <a:pt x="42059" y="2158243"/>
                    <a:pt x="25641" y="2141825"/>
                  </a:cubicBezTo>
                  <a:cubicBezTo>
                    <a:pt x="9224" y="2125407"/>
                    <a:pt x="0" y="2103140"/>
                    <a:pt x="0" y="2079921"/>
                  </a:cubicBezTo>
                  <a:lnTo>
                    <a:pt x="0" y="87545"/>
                  </a:lnTo>
                  <a:cubicBezTo>
                    <a:pt x="0" y="39195"/>
                    <a:pt x="39195" y="0"/>
                    <a:pt x="87545" y="0"/>
                  </a:cubicBezTo>
                  <a:close/>
                </a:path>
              </a:pathLst>
            </a:custGeom>
            <a:solidFill>
              <a:srgbClr val="62814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329103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581961" y="2025668"/>
            <a:ext cx="685928" cy="68592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581961" y="3630324"/>
            <a:ext cx="685928" cy="68592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581961" y="5105391"/>
            <a:ext cx="685928" cy="685928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581961" y="6580458"/>
            <a:ext cx="685928" cy="685928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581961" y="8055525"/>
            <a:ext cx="685928" cy="685928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8700" y="4553472"/>
            <a:ext cx="7019861" cy="3917361"/>
            <a:chOff x="0" y="0"/>
            <a:chExt cx="1087560" cy="60690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87560" cy="606902"/>
            </a:xfrm>
            <a:custGeom>
              <a:avLst/>
              <a:gdLst/>
              <a:ahLst/>
              <a:cxnLst/>
              <a:rect r="r" b="b" t="t" l="l"/>
              <a:pathLst>
                <a:path h="606902" w="1087560">
                  <a:moveTo>
                    <a:pt x="110286" y="0"/>
                  </a:moveTo>
                  <a:lnTo>
                    <a:pt x="977274" y="0"/>
                  </a:lnTo>
                  <a:cubicBezTo>
                    <a:pt x="1038183" y="0"/>
                    <a:pt x="1087560" y="49377"/>
                    <a:pt x="1087560" y="110286"/>
                  </a:cubicBezTo>
                  <a:lnTo>
                    <a:pt x="1087560" y="496616"/>
                  </a:lnTo>
                  <a:cubicBezTo>
                    <a:pt x="1087560" y="557525"/>
                    <a:pt x="1038183" y="606902"/>
                    <a:pt x="977274" y="606902"/>
                  </a:cubicBezTo>
                  <a:lnTo>
                    <a:pt x="110286" y="606902"/>
                  </a:lnTo>
                  <a:cubicBezTo>
                    <a:pt x="49377" y="606902"/>
                    <a:pt x="0" y="557525"/>
                    <a:pt x="0" y="496616"/>
                  </a:cubicBezTo>
                  <a:lnTo>
                    <a:pt x="0" y="110286"/>
                  </a:lnTo>
                  <a:cubicBezTo>
                    <a:pt x="0" y="49377"/>
                    <a:pt x="49377" y="0"/>
                    <a:pt x="110286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071" r="0" b="-1071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374270" y="3261866"/>
            <a:ext cx="4387905" cy="765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58"/>
              </a:lnSpc>
            </a:pPr>
            <a:r>
              <a:rPr lang="en-US" sz="2506">
                <a:solidFill>
                  <a:srgbClr val="40513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Emergency Response Protocol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1238250"/>
            <a:ext cx="6449694" cy="1743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68"/>
              </a:lnSpc>
            </a:pPr>
            <a:r>
              <a:rPr lang="en-US" b="true" sz="7379" spc="-228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Crisis Scenario Management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804938" y="1633342"/>
            <a:ext cx="4277910" cy="249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46"/>
              </a:lnSpc>
            </a:pPr>
            <a:r>
              <a:rPr lang="en-US" b="true" sz="1923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Volunteer Coordination: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804938" y="2080937"/>
            <a:ext cx="733967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2"/>
              </a:lnSpc>
            </a:pPr>
            <a:r>
              <a:rPr lang="en-US" sz="2027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Address breakdown scenarios with backup pools and rapid redeployment protocols.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804938" y="3173203"/>
            <a:ext cx="4277910" cy="249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46"/>
              </a:lnSpc>
            </a:pPr>
            <a:r>
              <a:rPr lang="en-US" b="true" sz="1923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Registration Spike Handling: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804938" y="3601749"/>
            <a:ext cx="7454362" cy="66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5"/>
              </a:lnSpc>
            </a:pPr>
            <a:r>
              <a:rPr lang="en-US" sz="2027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Stabilize surges with extra check-in capacity and overflow queue management.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804938" y="4713065"/>
            <a:ext cx="4277910" cy="249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46"/>
              </a:lnSpc>
            </a:pPr>
            <a:r>
              <a:rPr lang="en-US" b="true" sz="1923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Backup Speaker Activation: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804938" y="5170185"/>
            <a:ext cx="7339678" cy="59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2"/>
              </a:lnSpc>
            </a:pPr>
            <a:r>
              <a:rPr lang="en-US" sz="2027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Maintain standby speaker roster for rapid session replacement.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804938" y="6252926"/>
            <a:ext cx="4277910" cy="249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46"/>
              </a:lnSpc>
            </a:pPr>
            <a:r>
              <a:rPr lang="en-US" b="true" sz="1923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Sponsor Issue Resolution: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804938" y="6700522"/>
            <a:ext cx="7339678" cy="62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2"/>
              </a:lnSpc>
            </a:pPr>
            <a:r>
              <a:rPr lang="en-US" sz="2027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Rapid escalation pathways to resolve branding and booth concerns.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804938" y="7792788"/>
            <a:ext cx="4277910" cy="249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46"/>
              </a:lnSpc>
            </a:pPr>
            <a:r>
              <a:rPr lang="en-US" b="true" sz="1923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Calm Communication: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804938" y="8288008"/>
            <a:ext cx="6307522" cy="261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46"/>
              </a:lnSpc>
            </a:pPr>
            <a:r>
              <a:rPr lang="en-US" sz="2027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Maintain operational visibility with clear team updates.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5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836783" y="362327"/>
            <a:ext cx="13392579" cy="11329087"/>
          </a:xfrm>
          <a:custGeom>
            <a:avLst/>
            <a:gdLst/>
            <a:ahLst/>
            <a:cxnLst/>
            <a:rect r="r" b="b" t="t" l="l"/>
            <a:pathLst>
              <a:path h="11329087" w="13392579">
                <a:moveTo>
                  <a:pt x="0" y="0"/>
                </a:moveTo>
                <a:lnTo>
                  <a:pt x="13392578" y="0"/>
                </a:lnTo>
                <a:lnTo>
                  <a:pt x="13392578" y="11329087"/>
                </a:lnTo>
                <a:lnTo>
                  <a:pt x="0" y="113290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52525"/>
            <a:ext cx="9618745" cy="229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01"/>
              </a:lnSpc>
            </a:pPr>
            <a:r>
              <a:rPr lang="en-US" b="true" sz="8559" spc="-265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AI Operations Command Center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51952" y="6917068"/>
            <a:ext cx="8020349" cy="2291158"/>
            <a:chOff x="0" y="0"/>
            <a:chExt cx="2028771" cy="5795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28771" cy="579555"/>
            </a:xfrm>
            <a:custGeom>
              <a:avLst/>
              <a:gdLst/>
              <a:ahLst/>
              <a:cxnLst/>
              <a:rect r="r" b="b" t="t" l="l"/>
              <a:pathLst>
                <a:path h="579555" w="2028771">
                  <a:moveTo>
                    <a:pt x="55987" y="0"/>
                  </a:moveTo>
                  <a:lnTo>
                    <a:pt x="1972784" y="0"/>
                  </a:lnTo>
                  <a:cubicBezTo>
                    <a:pt x="1987633" y="0"/>
                    <a:pt x="2001873" y="5899"/>
                    <a:pt x="2012373" y="16398"/>
                  </a:cubicBezTo>
                  <a:cubicBezTo>
                    <a:pt x="2022872" y="26898"/>
                    <a:pt x="2028771" y="41138"/>
                    <a:pt x="2028771" y="55987"/>
                  </a:cubicBezTo>
                  <a:lnTo>
                    <a:pt x="2028771" y="523569"/>
                  </a:lnTo>
                  <a:cubicBezTo>
                    <a:pt x="2028771" y="538417"/>
                    <a:pt x="2022872" y="552658"/>
                    <a:pt x="2012373" y="563157"/>
                  </a:cubicBezTo>
                  <a:cubicBezTo>
                    <a:pt x="2001873" y="573657"/>
                    <a:pt x="1987633" y="579555"/>
                    <a:pt x="1972784" y="579555"/>
                  </a:cubicBezTo>
                  <a:lnTo>
                    <a:pt x="55987" y="579555"/>
                  </a:lnTo>
                  <a:cubicBezTo>
                    <a:pt x="41138" y="579555"/>
                    <a:pt x="26898" y="573657"/>
                    <a:pt x="16398" y="563157"/>
                  </a:cubicBezTo>
                  <a:cubicBezTo>
                    <a:pt x="5899" y="552658"/>
                    <a:pt x="0" y="538417"/>
                    <a:pt x="0" y="523569"/>
                  </a:cubicBezTo>
                  <a:lnTo>
                    <a:pt x="0" y="55987"/>
                  </a:lnTo>
                  <a:cubicBezTo>
                    <a:pt x="0" y="41138"/>
                    <a:pt x="5899" y="26898"/>
                    <a:pt x="16398" y="16398"/>
                  </a:cubicBezTo>
                  <a:cubicBezTo>
                    <a:pt x="26898" y="5899"/>
                    <a:pt x="41138" y="0"/>
                    <a:pt x="55987" y="0"/>
                  </a:cubicBezTo>
                  <a:close/>
                </a:path>
              </a:pathLst>
            </a:custGeom>
            <a:solidFill>
              <a:srgbClr val="62814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028771" cy="617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83233" y="7750232"/>
            <a:ext cx="668982" cy="66898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651045" y="6967142"/>
            <a:ext cx="8020349" cy="2291158"/>
            <a:chOff x="0" y="0"/>
            <a:chExt cx="2028771" cy="5795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28771" cy="579555"/>
            </a:xfrm>
            <a:custGeom>
              <a:avLst/>
              <a:gdLst/>
              <a:ahLst/>
              <a:cxnLst/>
              <a:rect r="r" b="b" t="t" l="l"/>
              <a:pathLst>
                <a:path h="579555" w="2028771">
                  <a:moveTo>
                    <a:pt x="55987" y="0"/>
                  </a:moveTo>
                  <a:lnTo>
                    <a:pt x="1972784" y="0"/>
                  </a:lnTo>
                  <a:cubicBezTo>
                    <a:pt x="1987633" y="0"/>
                    <a:pt x="2001873" y="5899"/>
                    <a:pt x="2012373" y="16398"/>
                  </a:cubicBezTo>
                  <a:cubicBezTo>
                    <a:pt x="2022872" y="26898"/>
                    <a:pt x="2028771" y="41138"/>
                    <a:pt x="2028771" y="55987"/>
                  </a:cubicBezTo>
                  <a:lnTo>
                    <a:pt x="2028771" y="523569"/>
                  </a:lnTo>
                  <a:cubicBezTo>
                    <a:pt x="2028771" y="538417"/>
                    <a:pt x="2022872" y="552658"/>
                    <a:pt x="2012373" y="563157"/>
                  </a:cubicBezTo>
                  <a:cubicBezTo>
                    <a:pt x="2001873" y="573657"/>
                    <a:pt x="1987633" y="579555"/>
                    <a:pt x="1972784" y="579555"/>
                  </a:cubicBezTo>
                  <a:lnTo>
                    <a:pt x="55987" y="579555"/>
                  </a:lnTo>
                  <a:cubicBezTo>
                    <a:pt x="41138" y="579555"/>
                    <a:pt x="26898" y="573657"/>
                    <a:pt x="16398" y="563157"/>
                  </a:cubicBezTo>
                  <a:cubicBezTo>
                    <a:pt x="5899" y="552658"/>
                    <a:pt x="0" y="538417"/>
                    <a:pt x="0" y="523569"/>
                  </a:cubicBezTo>
                  <a:lnTo>
                    <a:pt x="0" y="55987"/>
                  </a:lnTo>
                  <a:cubicBezTo>
                    <a:pt x="0" y="41138"/>
                    <a:pt x="5899" y="26898"/>
                    <a:pt x="16398" y="16398"/>
                  </a:cubicBezTo>
                  <a:cubicBezTo>
                    <a:pt x="26898" y="5899"/>
                    <a:pt x="41138" y="0"/>
                    <a:pt x="55987" y="0"/>
                  </a:cubicBezTo>
                  <a:close/>
                </a:path>
              </a:pathLst>
            </a:custGeom>
            <a:solidFill>
              <a:srgbClr val="62814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028771" cy="617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128412" y="7800306"/>
            <a:ext cx="668982" cy="66898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04327" y="4355932"/>
            <a:ext cx="8020349" cy="2291158"/>
            <a:chOff x="0" y="0"/>
            <a:chExt cx="2028771" cy="57955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28771" cy="579555"/>
            </a:xfrm>
            <a:custGeom>
              <a:avLst/>
              <a:gdLst/>
              <a:ahLst/>
              <a:cxnLst/>
              <a:rect r="r" b="b" t="t" l="l"/>
              <a:pathLst>
                <a:path h="579555" w="2028771">
                  <a:moveTo>
                    <a:pt x="55987" y="0"/>
                  </a:moveTo>
                  <a:lnTo>
                    <a:pt x="1972784" y="0"/>
                  </a:lnTo>
                  <a:cubicBezTo>
                    <a:pt x="1987633" y="0"/>
                    <a:pt x="2001873" y="5899"/>
                    <a:pt x="2012373" y="16398"/>
                  </a:cubicBezTo>
                  <a:cubicBezTo>
                    <a:pt x="2022872" y="26898"/>
                    <a:pt x="2028771" y="41138"/>
                    <a:pt x="2028771" y="55987"/>
                  </a:cubicBezTo>
                  <a:lnTo>
                    <a:pt x="2028771" y="523569"/>
                  </a:lnTo>
                  <a:cubicBezTo>
                    <a:pt x="2028771" y="538417"/>
                    <a:pt x="2022872" y="552658"/>
                    <a:pt x="2012373" y="563157"/>
                  </a:cubicBezTo>
                  <a:cubicBezTo>
                    <a:pt x="2001873" y="573657"/>
                    <a:pt x="1987633" y="579555"/>
                    <a:pt x="1972784" y="579555"/>
                  </a:cubicBezTo>
                  <a:lnTo>
                    <a:pt x="55987" y="579555"/>
                  </a:lnTo>
                  <a:cubicBezTo>
                    <a:pt x="41138" y="579555"/>
                    <a:pt x="26898" y="573657"/>
                    <a:pt x="16398" y="563157"/>
                  </a:cubicBezTo>
                  <a:cubicBezTo>
                    <a:pt x="5899" y="552658"/>
                    <a:pt x="0" y="538417"/>
                    <a:pt x="0" y="523569"/>
                  </a:cubicBezTo>
                  <a:lnTo>
                    <a:pt x="0" y="55987"/>
                  </a:lnTo>
                  <a:cubicBezTo>
                    <a:pt x="0" y="41138"/>
                    <a:pt x="5899" y="26898"/>
                    <a:pt x="16398" y="16398"/>
                  </a:cubicBezTo>
                  <a:cubicBezTo>
                    <a:pt x="26898" y="5899"/>
                    <a:pt x="41138" y="0"/>
                    <a:pt x="55987" y="0"/>
                  </a:cubicBezTo>
                  <a:close/>
                </a:path>
              </a:pathLst>
            </a:custGeom>
            <a:solidFill>
              <a:srgbClr val="62814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28771" cy="617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45133" y="5189096"/>
            <a:ext cx="668982" cy="66898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586728" y="2044472"/>
            <a:ext cx="6630977" cy="4602618"/>
            <a:chOff x="0" y="0"/>
            <a:chExt cx="995534" cy="69100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95534" cy="691009"/>
            </a:xfrm>
            <a:custGeom>
              <a:avLst/>
              <a:gdLst/>
              <a:ahLst/>
              <a:cxnLst/>
              <a:rect r="r" b="b" t="t" l="l"/>
              <a:pathLst>
                <a:path h="691009" w="995534">
                  <a:moveTo>
                    <a:pt x="116754" y="0"/>
                  </a:moveTo>
                  <a:lnTo>
                    <a:pt x="878780" y="0"/>
                  </a:lnTo>
                  <a:cubicBezTo>
                    <a:pt x="909745" y="0"/>
                    <a:pt x="939442" y="12301"/>
                    <a:pt x="961337" y="34196"/>
                  </a:cubicBezTo>
                  <a:cubicBezTo>
                    <a:pt x="983233" y="56092"/>
                    <a:pt x="995534" y="85789"/>
                    <a:pt x="995534" y="116754"/>
                  </a:cubicBezTo>
                  <a:lnTo>
                    <a:pt x="995534" y="574255"/>
                  </a:lnTo>
                  <a:cubicBezTo>
                    <a:pt x="995534" y="605220"/>
                    <a:pt x="983233" y="634917"/>
                    <a:pt x="961337" y="656812"/>
                  </a:cubicBezTo>
                  <a:cubicBezTo>
                    <a:pt x="939442" y="678708"/>
                    <a:pt x="909745" y="691009"/>
                    <a:pt x="878780" y="691009"/>
                  </a:cubicBezTo>
                  <a:lnTo>
                    <a:pt x="116754" y="691009"/>
                  </a:lnTo>
                  <a:cubicBezTo>
                    <a:pt x="85789" y="691009"/>
                    <a:pt x="56092" y="678708"/>
                    <a:pt x="34196" y="656812"/>
                  </a:cubicBezTo>
                  <a:cubicBezTo>
                    <a:pt x="12301" y="634917"/>
                    <a:pt x="0" y="605220"/>
                    <a:pt x="0" y="574255"/>
                  </a:cubicBezTo>
                  <a:lnTo>
                    <a:pt x="0" y="116754"/>
                  </a:lnTo>
                  <a:cubicBezTo>
                    <a:pt x="0" y="85789"/>
                    <a:pt x="12301" y="56092"/>
                    <a:pt x="34196" y="34196"/>
                  </a:cubicBezTo>
                  <a:cubicBezTo>
                    <a:pt x="56092" y="12301"/>
                    <a:pt x="85789" y="0"/>
                    <a:pt x="116754" y="0"/>
                  </a:cubicBezTo>
                  <a:close/>
                </a:path>
              </a:pathLst>
            </a:custGeom>
            <a:blipFill>
              <a:blip r:embed="rId4"/>
              <a:stretch>
                <a:fillRect l="-1510" t="0" r="-1510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2752265" y="7378065"/>
            <a:ext cx="4172225" cy="289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38"/>
              </a:lnSpc>
            </a:pPr>
            <a:r>
              <a:rPr lang="en-US" b="true" sz="2227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Predictive Management: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613736" y="7803901"/>
            <a:ext cx="6315322" cy="69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46"/>
              </a:lnSpc>
            </a:pPr>
            <a:r>
              <a:rPr lang="en-US" sz="2277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AI-powered crowd analytics and risk forecasting to prevent bottlenecks and safety issues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356073" y="7428138"/>
            <a:ext cx="4172225" cy="289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38"/>
              </a:lnSpc>
            </a:pPr>
            <a:r>
              <a:rPr lang="en-US" b="true" sz="2227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Integrated Workflows: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184623" y="7853974"/>
            <a:ext cx="6315322" cy="70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277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Automated operational summaries, alerts, and seamless system integration across platforms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733727" y="4816929"/>
            <a:ext cx="4172225" cy="289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38"/>
              </a:lnSpc>
            </a:pPr>
            <a:r>
              <a:rPr lang="en-US" b="true" sz="2227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Live KPI Dashboards: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613736" y="5233240"/>
            <a:ext cx="6315322" cy="719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14"/>
              </a:lnSpc>
            </a:pPr>
            <a:r>
              <a:rPr lang="en-US" sz="2277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Real-time tracking of attendee flow, ticket sales, and operational metrics across all event zones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81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72676" y="-1731867"/>
            <a:ext cx="8315324" cy="9397327"/>
          </a:xfrm>
          <a:custGeom>
            <a:avLst/>
            <a:gdLst/>
            <a:ahLst/>
            <a:cxnLst/>
            <a:rect r="r" b="b" t="t" l="l"/>
            <a:pathLst>
              <a:path h="9397327" w="8315324">
                <a:moveTo>
                  <a:pt x="0" y="0"/>
                </a:moveTo>
                <a:lnTo>
                  <a:pt x="8315324" y="0"/>
                </a:lnTo>
                <a:lnTo>
                  <a:pt x="8315324" y="9397327"/>
                </a:lnTo>
                <a:lnTo>
                  <a:pt x="0" y="93973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71044"/>
            <a:ext cx="12481973" cy="736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11"/>
              </a:lnSpc>
            </a:pPr>
            <a:r>
              <a:rPr lang="en-US" b="true" sz="5967" spc="-184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Conclusion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766657" y="3780290"/>
            <a:ext cx="9492643" cy="1059445"/>
            <a:chOff x="0" y="0"/>
            <a:chExt cx="3641350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41350" cy="406400"/>
            </a:xfrm>
            <a:custGeom>
              <a:avLst/>
              <a:gdLst/>
              <a:ahLst/>
              <a:cxnLst/>
              <a:rect r="r" b="b" t="t" l="l"/>
              <a:pathLst>
                <a:path h="406400" w="3641350">
                  <a:moveTo>
                    <a:pt x="3438150" y="0"/>
                  </a:moveTo>
                  <a:cubicBezTo>
                    <a:pt x="3550374" y="0"/>
                    <a:pt x="3641350" y="90976"/>
                    <a:pt x="3641350" y="203200"/>
                  </a:cubicBezTo>
                  <a:cubicBezTo>
                    <a:pt x="3641350" y="315424"/>
                    <a:pt x="3550374" y="406400"/>
                    <a:pt x="343815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364135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1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5730743"/>
            <a:ext cx="5730461" cy="3527557"/>
            <a:chOff x="0" y="0"/>
            <a:chExt cx="1509257" cy="9290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09257" cy="929068"/>
            </a:xfrm>
            <a:custGeom>
              <a:avLst/>
              <a:gdLst/>
              <a:ahLst/>
              <a:cxnLst/>
              <a:rect r="r" b="b" t="t" l="l"/>
              <a:pathLst>
                <a:path h="929068" w="1509257">
                  <a:moveTo>
                    <a:pt x="135101" y="0"/>
                  </a:moveTo>
                  <a:lnTo>
                    <a:pt x="1374156" y="0"/>
                  </a:lnTo>
                  <a:cubicBezTo>
                    <a:pt x="1409987" y="0"/>
                    <a:pt x="1444351" y="14234"/>
                    <a:pt x="1469687" y="39570"/>
                  </a:cubicBezTo>
                  <a:cubicBezTo>
                    <a:pt x="1495023" y="64907"/>
                    <a:pt x="1509257" y="99270"/>
                    <a:pt x="1509257" y="135101"/>
                  </a:cubicBezTo>
                  <a:lnTo>
                    <a:pt x="1509257" y="793967"/>
                  </a:lnTo>
                  <a:cubicBezTo>
                    <a:pt x="1509257" y="868582"/>
                    <a:pt x="1448770" y="929068"/>
                    <a:pt x="1374156" y="929068"/>
                  </a:cubicBezTo>
                  <a:lnTo>
                    <a:pt x="135101" y="929068"/>
                  </a:lnTo>
                  <a:cubicBezTo>
                    <a:pt x="99270" y="929068"/>
                    <a:pt x="64907" y="914835"/>
                    <a:pt x="39570" y="889498"/>
                  </a:cubicBezTo>
                  <a:cubicBezTo>
                    <a:pt x="14234" y="864162"/>
                    <a:pt x="0" y="829798"/>
                    <a:pt x="0" y="793967"/>
                  </a:cubicBezTo>
                  <a:lnTo>
                    <a:pt x="0" y="135101"/>
                  </a:lnTo>
                  <a:cubicBezTo>
                    <a:pt x="0" y="99270"/>
                    <a:pt x="14234" y="64907"/>
                    <a:pt x="39570" y="39570"/>
                  </a:cubicBezTo>
                  <a:cubicBezTo>
                    <a:pt x="64907" y="14234"/>
                    <a:pt x="99270" y="0"/>
                    <a:pt x="135101" y="0"/>
                  </a:cubicBezTo>
                  <a:close/>
                </a:path>
              </a:pathLst>
            </a:custGeom>
            <a:solidFill>
              <a:srgbClr val="40513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509257" cy="967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269687" y="5730743"/>
            <a:ext cx="10229317" cy="3527557"/>
            <a:chOff x="0" y="0"/>
            <a:chExt cx="2694141" cy="9290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694141" cy="929068"/>
            </a:xfrm>
            <a:custGeom>
              <a:avLst/>
              <a:gdLst/>
              <a:ahLst/>
              <a:cxnLst/>
              <a:rect r="r" b="b" t="t" l="l"/>
              <a:pathLst>
                <a:path h="929068" w="2694141">
                  <a:moveTo>
                    <a:pt x="75684" y="0"/>
                  </a:moveTo>
                  <a:lnTo>
                    <a:pt x="2618457" y="0"/>
                  </a:lnTo>
                  <a:cubicBezTo>
                    <a:pt x="2660256" y="0"/>
                    <a:pt x="2694141" y="33885"/>
                    <a:pt x="2694141" y="75684"/>
                  </a:cubicBezTo>
                  <a:lnTo>
                    <a:pt x="2694141" y="853385"/>
                  </a:lnTo>
                  <a:cubicBezTo>
                    <a:pt x="2694141" y="895184"/>
                    <a:pt x="2660256" y="929068"/>
                    <a:pt x="2618457" y="929068"/>
                  </a:cubicBezTo>
                  <a:lnTo>
                    <a:pt x="75684" y="929068"/>
                  </a:lnTo>
                  <a:cubicBezTo>
                    <a:pt x="33885" y="929068"/>
                    <a:pt x="0" y="895184"/>
                    <a:pt x="0" y="853385"/>
                  </a:cubicBezTo>
                  <a:lnTo>
                    <a:pt x="0" y="75684"/>
                  </a:lnTo>
                  <a:cubicBezTo>
                    <a:pt x="0" y="33885"/>
                    <a:pt x="33885" y="0"/>
                    <a:pt x="75684" y="0"/>
                  </a:cubicBezTo>
                  <a:close/>
                </a:path>
              </a:pathLst>
            </a:custGeom>
            <a:solidFill>
              <a:srgbClr val="40513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694141" cy="967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132130" y="4099453"/>
            <a:ext cx="8761697" cy="471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63"/>
              </a:lnSpc>
            </a:pPr>
            <a:r>
              <a:rPr lang="en-US" sz="3607">
                <a:solidFill>
                  <a:srgbClr val="40513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Summary &amp; Key Takeaways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09429" y="6209046"/>
            <a:ext cx="2009283" cy="58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95"/>
              </a:lnSpc>
            </a:pPr>
            <a:r>
              <a:rPr lang="en-US" b="true" sz="239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Operational Excellence: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6835" y="6911490"/>
            <a:ext cx="6294572" cy="16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26"/>
              </a:lnSpc>
            </a:pPr>
            <a:r>
              <a:rPr lang="en-US" sz="1812" spc="94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This proposal demonstrates comprehensive</a:t>
            </a:r>
          </a:p>
          <a:p>
            <a:pPr algn="just" marL="0" indent="0" lvl="0">
              <a:lnSpc>
                <a:spcPts val="3226"/>
              </a:lnSpc>
            </a:pPr>
            <a:r>
              <a:rPr lang="en-US" sz="1812" spc="94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 operational thinking with scalable</a:t>
            </a:r>
          </a:p>
          <a:p>
            <a:pPr algn="just" marL="0" indent="0" lvl="0">
              <a:lnSpc>
                <a:spcPts val="3226"/>
              </a:lnSpc>
            </a:pPr>
            <a:r>
              <a:rPr lang="en-US" sz="1812" spc="94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 coordination frameworks design</a:t>
            </a:r>
          </a:p>
          <a:p>
            <a:pPr algn="just" marL="0" indent="0" lvl="0">
              <a:lnSpc>
                <a:spcPts val="3226"/>
              </a:lnSpc>
            </a:pPr>
            <a:r>
              <a:rPr lang="en-US" sz="1812" spc="94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 for MunichTech EXPO 2026's complexity.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610713" y="6266196"/>
            <a:ext cx="5040217" cy="30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95"/>
              </a:lnSpc>
            </a:pPr>
            <a:r>
              <a:rPr lang="en-US" b="true" sz="239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AI-Powered Innovation: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10713" y="6761613"/>
            <a:ext cx="9004596" cy="676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2"/>
              </a:lnSpc>
            </a:pPr>
            <a:r>
              <a:rPr lang="en-US" sz="1812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Combines business operations with AI-supported workflow optimization for enhanced efficiency.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42344" y="7832718"/>
            <a:ext cx="9004596" cy="464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39"/>
              </a:lnSpc>
            </a:pPr>
            <a:r>
              <a:rPr lang="en-US" sz="1812">
                <a:solidFill>
                  <a:srgbClr val="FFFFFF"/>
                </a:solidFill>
                <a:latin typeface="Bricolage Grotesque Extra-Light"/>
                <a:ea typeface="Bricolage Grotesque Extra-Light"/>
                <a:cs typeface="Bricolage Grotesque Extra-Light"/>
                <a:sym typeface="Bricolage Grotesque Extra-Light"/>
              </a:rPr>
              <a:t>Focuses on practical execution, clear communication, and operational maturity throughout.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5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7197" y="1028700"/>
            <a:ext cx="7849665" cy="6345506"/>
            <a:chOff x="0" y="0"/>
            <a:chExt cx="2067401" cy="16712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7401" cy="1671244"/>
            </a:xfrm>
            <a:custGeom>
              <a:avLst/>
              <a:gdLst/>
              <a:ahLst/>
              <a:cxnLst/>
              <a:rect r="r" b="b" t="t" l="l"/>
              <a:pathLst>
                <a:path h="1671244" w="2067401">
                  <a:moveTo>
                    <a:pt x="98627" y="0"/>
                  </a:moveTo>
                  <a:lnTo>
                    <a:pt x="1968774" y="0"/>
                  </a:lnTo>
                  <a:cubicBezTo>
                    <a:pt x="2023244" y="0"/>
                    <a:pt x="2067401" y="44157"/>
                    <a:pt x="2067401" y="98627"/>
                  </a:cubicBezTo>
                  <a:lnTo>
                    <a:pt x="2067401" y="1572617"/>
                  </a:lnTo>
                  <a:cubicBezTo>
                    <a:pt x="2067401" y="1598775"/>
                    <a:pt x="2057010" y="1623861"/>
                    <a:pt x="2038514" y="1642357"/>
                  </a:cubicBezTo>
                  <a:cubicBezTo>
                    <a:pt x="2020018" y="1660853"/>
                    <a:pt x="1994932" y="1671244"/>
                    <a:pt x="1968774" y="1671244"/>
                  </a:cubicBezTo>
                  <a:lnTo>
                    <a:pt x="98627" y="1671244"/>
                  </a:lnTo>
                  <a:cubicBezTo>
                    <a:pt x="44157" y="1671244"/>
                    <a:pt x="0" y="1627087"/>
                    <a:pt x="0" y="1572617"/>
                  </a:cubicBezTo>
                  <a:lnTo>
                    <a:pt x="0" y="98627"/>
                  </a:lnTo>
                  <a:cubicBezTo>
                    <a:pt x="0" y="72470"/>
                    <a:pt x="10391" y="47384"/>
                    <a:pt x="28887" y="28887"/>
                  </a:cubicBezTo>
                  <a:cubicBezTo>
                    <a:pt x="47384" y="10391"/>
                    <a:pt x="72470" y="0"/>
                    <a:pt x="98627" y="0"/>
                  </a:cubicBezTo>
                  <a:close/>
                </a:path>
              </a:pathLst>
            </a:custGeom>
            <a:solidFill>
              <a:srgbClr val="62814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7401" cy="17093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449495"/>
            <a:ext cx="15275921" cy="3193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067"/>
              </a:lnSpc>
            </a:pPr>
            <a:r>
              <a:rPr lang="en-US" b="true" sz="13558" spc="-42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Thank You For Your Attention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6829471"/>
            <a:ext cx="10438246" cy="1089470"/>
            <a:chOff x="0" y="0"/>
            <a:chExt cx="3893730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93729" cy="406400"/>
            </a:xfrm>
            <a:custGeom>
              <a:avLst/>
              <a:gdLst/>
              <a:ahLst/>
              <a:cxnLst/>
              <a:rect r="r" b="b" t="t" l="l"/>
              <a:pathLst>
                <a:path h="406400" w="3893729">
                  <a:moveTo>
                    <a:pt x="3690529" y="0"/>
                  </a:moveTo>
                  <a:cubicBezTo>
                    <a:pt x="3802754" y="0"/>
                    <a:pt x="3893729" y="90976"/>
                    <a:pt x="3893729" y="203200"/>
                  </a:cubicBezTo>
                  <a:cubicBezTo>
                    <a:pt x="3893729" y="315424"/>
                    <a:pt x="3802754" y="406400"/>
                    <a:pt x="369052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389373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28700" y="1507282"/>
            <a:ext cx="1187281" cy="1224001"/>
          </a:xfrm>
          <a:custGeom>
            <a:avLst/>
            <a:gdLst/>
            <a:ahLst/>
            <a:cxnLst/>
            <a:rect r="r" b="b" t="t" l="l"/>
            <a:pathLst>
              <a:path h="1224001" w="1187281">
                <a:moveTo>
                  <a:pt x="0" y="0"/>
                </a:moveTo>
                <a:lnTo>
                  <a:pt x="1187281" y="0"/>
                </a:lnTo>
                <a:lnTo>
                  <a:pt x="1187281" y="1224001"/>
                </a:lnTo>
                <a:lnTo>
                  <a:pt x="0" y="1224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81195" y="7160213"/>
            <a:ext cx="9733255" cy="348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63"/>
              </a:lnSpc>
            </a:pPr>
            <a:r>
              <a:rPr lang="en-US" sz="2670">
                <a:solidFill>
                  <a:srgbClr val="40513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Questions? Let's discuss the future of MunichTech EXPO 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80637" y="8767778"/>
            <a:ext cx="5178663" cy="348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63"/>
              </a:lnSpc>
            </a:pPr>
            <a:r>
              <a:rPr lang="en-US" sz="267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austinoboh94@gmail.com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786828"/>
            <a:ext cx="3245418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</a:pPr>
            <a:r>
              <a:rPr lang="en-US" b="true" sz="3375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Contact: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74118" y="8767778"/>
            <a:ext cx="4112744" cy="348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3"/>
              </a:lnSpc>
            </a:pPr>
            <a:r>
              <a:rPr lang="en-US" sz="267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Eronmosele </a:t>
            </a:r>
            <a:r>
              <a:rPr lang="en-US" sz="267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Austin Oboh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84310" y="1681572"/>
            <a:ext cx="3084683" cy="1005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55"/>
              </a:lnSpc>
            </a:pPr>
            <a:r>
              <a:rPr lang="en-US" sz="3767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MUNICHTECH EXPO 2026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913973" y="1028700"/>
            <a:ext cx="14303553" cy="9258300"/>
          </a:xfrm>
          <a:custGeom>
            <a:avLst/>
            <a:gdLst/>
            <a:ahLst/>
            <a:cxnLst/>
            <a:rect r="r" b="b" t="t" l="l"/>
            <a:pathLst>
              <a:path h="9258300" w="14303553">
                <a:moveTo>
                  <a:pt x="0" y="0"/>
                </a:moveTo>
                <a:lnTo>
                  <a:pt x="14303554" y="0"/>
                </a:lnTo>
                <a:lnTo>
                  <a:pt x="1430355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DAHJegNodjg</dc:identifier>
  <dcterms:modified xsi:type="dcterms:W3CDTF">2011-08-01T06:04:30Z</dcterms:modified>
  <cp:revision>1</cp:revision>
  <dc:title>MunichTech Expo: AI-Driven Operations Proposal</dc:title>
</cp:coreProperties>
</file>